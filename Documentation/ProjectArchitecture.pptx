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2" r:id="rId4"/>
    <p:sldId id="260" r:id="rId5"/>
    <p:sldId id="261" r:id="rId6"/>
    <p:sldId id="263"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52" d="100"/>
          <a:sy n="52" d="100"/>
        </p:scale>
        <p:origin x="1220"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6E2D3-0453-3644-985D-C4CA1FF8A2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B364B5-C206-EF5E-A991-F139D9FEA6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48176B-2977-E475-BA08-7EBCCC67CB0C}"/>
              </a:ext>
            </a:extLst>
          </p:cNvPr>
          <p:cNvSpPr>
            <a:spLocks noGrp="1"/>
          </p:cNvSpPr>
          <p:nvPr>
            <p:ph type="dt" sz="half" idx="10"/>
          </p:nvPr>
        </p:nvSpPr>
        <p:spPr/>
        <p:txBody>
          <a:bodyPr/>
          <a:lstStyle/>
          <a:p>
            <a:fld id="{82B1C2C3-D437-4CB5-914C-06113AC135BA}" type="datetimeFigureOut">
              <a:rPr lang="en-US" smtClean="0"/>
              <a:t>3/2/2026</a:t>
            </a:fld>
            <a:endParaRPr lang="en-US"/>
          </a:p>
        </p:txBody>
      </p:sp>
      <p:sp>
        <p:nvSpPr>
          <p:cNvPr id="5" name="Footer Placeholder 4">
            <a:extLst>
              <a:ext uri="{FF2B5EF4-FFF2-40B4-BE49-F238E27FC236}">
                <a16:creationId xmlns:a16="http://schemas.microsoft.com/office/drawing/2014/main" id="{9F46ED30-CB7F-69E9-4EF2-624FBEE60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4FF379-4DA4-9138-4672-064ACEC93907}"/>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270503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AAD42-76A8-E47B-CCBF-71DF54AFA5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A9EDF4-478F-5A6F-8B47-7297A51DA0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DF5F9A-3045-F826-1BEA-96264008536E}"/>
              </a:ext>
            </a:extLst>
          </p:cNvPr>
          <p:cNvSpPr>
            <a:spLocks noGrp="1"/>
          </p:cNvSpPr>
          <p:nvPr>
            <p:ph type="dt" sz="half" idx="10"/>
          </p:nvPr>
        </p:nvSpPr>
        <p:spPr/>
        <p:txBody>
          <a:bodyPr/>
          <a:lstStyle/>
          <a:p>
            <a:fld id="{82B1C2C3-D437-4CB5-914C-06113AC135BA}" type="datetimeFigureOut">
              <a:rPr lang="en-US" smtClean="0"/>
              <a:t>3/2/2026</a:t>
            </a:fld>
            <a:endParaRPr lang="en-US"/>
          </a:p>
        </p:txBody>
      </p:sp>
      <p:sp>
        <p:nvSpPr>
          <p:cNvPr id="5" name="Footer Placeholder 4">
            <a:extLst>
              <a:ext uri="{FF2B5EF4-FFF2-40B4-BE49-F238E27FC236}">
                <a16:creationId xmlns:a16="http://schemas.microsoft.com/office/drawing/2014/main" id="{51ED8A9B-5F6A-04CC-2C77-3282E591C6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6D2BF3-1A63-9230-282E-1971E3094634}"/>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3322229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F65A-F6ED-871A-1CE4-5F64B10F83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809FD-D25F-196D-AFA1-C92E797400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B4761-384F-51C1-5A66-9A2CB18473B1}"/>
              </a:ext>
            </a:extLst>
          </p:cNvPr>
          <p:cNvSpPr>
            <a:spLocks noGrp="1"/>
          </p:cNvSpPr>
          <p:nvPr>
            <p:ph type="dt" sz="half" idx="10"/>
          </p:nvPr>
        </p:nvSpPr>
        <p:spPr/>
        <p:txBody>
          <a:bodyPr/>
          <a:lstStyle/>
          <a:p>
            <a:fld id="{82B1C2C3-D437-4CB5-914C-06113AC135BA}" type="datetimeFigureOut">
              <a:rPr lang="en-US" smtClean="0"/>
              <a:t>3/2/2026</a:t>
            </a:fld>
            <a:endParaRPr lang="en-US"/>
          </a:p>
        </p:txBody>
      </p:sp>
      <p:sp>
        <p:nvSpPr>
          <p:cNvPr id="5" name="Footer Placeholder 4">
            <a:extLst>
              <a:ext uri="{FF2B5EF4-FFF2-40B4-BE49-F238E27FC236}">
                <a16:creationId xmlns:a16="http://schemas.microsoft.com/office/drawing/2014/main" id="{7A1E72D6-136F-41D9-B9DB-FCE1910DB5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C8E086-509C-990E-9A79-8BF0577AD221}"/>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2369376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93122-2CA2-6ABA-212F-581A31120D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B00954-68FB-BC81-D773-3E57F1E750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51B869-C022-7234-5B8D-10D53236F9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002FC9-79C7-2675-3333-3A9D87F6B2E0}"/>
              </a:ext>
            </a:extLst>
          </p:cNvPr>
          <p:cNvSpPr>
            <a:spLocks noGrp="1"/>
          </p:cNvSpPr>
          <p:nvPr>
            <p:ph type="dt" sz="half" idx="10"/>
          </p:nvPr>
        </p:nvSpPr>
        <p:spPr/>
        <p:txBody>
          <a:bodyPr/>
          <a:lstStyle/>
          <a:p>
            <a:fld id="{82B1C2C3-D437-4CB5-914C-06113AC135BA}" type="datetimeFigureOut">
              <a:rPr lang="en-US" smtClean="0"/>
              <a:t>3/2/2026</a:t>
            </a:fld>
            <a:endParaRPr lang="en-US"/>
          </a:p>
        </p:txBody>
      </p:sp>
      <p:sp>
        <p:nvSpPr>
          <p:cNvPr id="6" name="Footer Placeholder 5">
            <a:extLst>
              <a:ext uri="{FF2B5EF4-FFF2-40B4-BE49-F238E27FC236}">
                <a16:creationId xmlns:a16="http://schemas.microsoft.com/office/drawing/2014/main" id="{D9A74CAD-02B5-61B4-8BA3-6159A9182F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3619FD-17FA-EF54-AD6B-020E70B579A3}"/>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2238454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ED7C6-8C72-6134-D774-057F8FE1EB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F7260B-D3D6-80DF-3587-28D166D1A7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45B344-B8F9-D0B8-0B05-94614880C4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F078A3-CAA5-263C-511A-9C8FE8F834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893323-7FA5-787C-EFF8-F34C073893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D9BCC0-1EF6-76EC-B4C0-F88C5D62D246}"/>
              </a:ext>
            </a:extLst>
          </p:cNvPr>
          <p:cNvSpPr>
            <a:spLocks noGrp="1"/>
          </p:cNvSpPr>
          <p:nvPr>
            <p:ph type="dt" sz="half" idx="10"/>
          </p:nvPr>
        </p:nvSpPr>
        <p:spPr/>
        <p:txBody>
          <a:bodyPr/>
          <a:lstStyle/>
          <a:p>
            <a:fld id="{82B1C2C3-D437-4CB5-914C-06113AC135BA}" type="datetimeFigureOut">
              <a:rPr lang="en-US" smtClean="0"/>
              <a:t>3/2/2026</a:t>
            </a:fld>
            <a:endParaRPr lang="en-US"/>
          </a:p>
        </p:txBody>
      </p:sp>
      <p:sp>
        <p:nvSpPr>
          <p:cNvPr id="8" name="Footer Placeholder 7">
            <a:extLst>
              <a:ext uri="{FF2B5EF4-FFF2-40B4-BE49-F238E27FC236}">
                <a16:creationId xmlns:a16="http://schemas.microsoft.com/office/drawing/2014/main" id="{76485C53-5295-F6A0-47F8-EE044B97F4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7F06E5-1384-37F6-7DEB-2FD8EC932DAC}"/>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3349720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34BB3-DDBA-00EE-6704-7942C1FC41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C4BCB7-A8BB-AEEF-02EF-7891C956486E}"/>
              </a:ext>
            </a:extLst>
          </p:cNvPr>
          <p:cNvSpPr>
            <a:spLocks noGrp="1"/>
          </p:cNvSpPr>
          <p:nvPr>
            <p:ph type="dt" sz="half" idx="10"/>
          </p:nvPr>
        </p:nvSpPr>
        <p:spPr/>
        <p:txBody>
          <a:bodyPr/>
          <a:lstStyle/>
          <a:p>
            <a:fld id="{82B1C2C3-D437-4CB5-914C-06113AC135BA}" type="datetimeFigureOut">
              <a:rPr lang="en-US" smtClean="0"/>
              <a:t>3/2/2026</a:t>
            </a:fld>
            <a:endParaRPr lang="en-US"/>
          </a:p>
        </p:txBody>
      </p:sp>
      <p:sp>
        <p:nvSpPr>
          <p:cNvPr id="4" name="Footer Placeholder 3">
            <a:extLst>
              <a:ext uri="{FF2B5EF4-FFF2-40B4-BE49-F238E27FC236}">
                <a16:creationId xmlns:a16="http://schemas.microsoft.com/office/drawing/2014/main" id="{6E69BF47-AC4C-6730-8B4F-BA89F3A9FC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81722D-F49D-3EE4-E0BA-00BDF74AAB1A}"/>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3062922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3A7655-610E-B88C-E976-63CF89850E58}"/>
              </a:ext>
            </a:extLst>
          </p:cNvPr>
          <p:cNvSpPr>
            <a:spLocks noGrp="1"/>
          </p:cNvSpPr>
          <p:nvPr>
            <p:ph type="dt" sz="half" idx="10"/>
          </p:nvPr>
        </p:nvSpPr>
        <p:spPr/>
        <p:txBody>
          <a:bodyPr/>
          <a:lstStyle/>
          <a:p>
            <a:fld id="{82B1C2C3-D437-4CB5-914C-06113AC135BA}" type="datetimeFigureOut">
              <a:rPr lang="en-US" smtClean="0"/>
              <a:t>3/2/2026</a:t>
            </a:fld>
            <a:endParaRPr lang="en-US"/>
          </a:p>
        </p:txBody>
      </p:sp>
      <p:sp>
        <p:nvSpPr>
          <p:cNvPr id="3" name="Footer Placeholder 2">
            <a:extLst>
              <a:ext uri="{FF2B5EF4-FFF2-40B4-BE49-F238E27FC236}">
                <a16:creationId xmlns:a16="http://schemas.microsoft.com/office/drawing/2014/main" id="{139728E0-54AB-81D0-9CF9-7488FFAC23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EB04B0-8E00-EB28-CCD3-F092EA0F9E91}"/>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2521517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ED26-671D-272E-AA86-4D9AFB3F6B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07ACB2F-9DA7-B8F4-9583-3BDA698C9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1AAF84-EBA5-EDDC-094D-F941452ADF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3C823C-F555-4C57-C480-A16330103706}"/>
              </a:ext>
            </a:extLst>
          </p:cNvPr>
          <p:cNvSpPr>
            <a:spLocks noGrp="1"/>
          </p:cNvSpPr>
          <p:nvPr>
            <p:ph type="dt" sz="half" idx="10"/>
          </p:nvPr>
        </p:nvSpPr>
        <p:spPr/>
        <p:txBody>
          <a:bodyPr/>
          <a:lstStyle/>
          <a:p>
            <a:fld id="{82B1C2C3-D437-4CB5-914C-06113AC135BA}" type="datetimeFigureOut">
              <a:rPr lang="en-US" smtClean="0"/>
              <a:t>3/2/2026</a:t>
            </a:fld>
            <a:endParaRPr lang="en-US"/>
          </a:p>
        </p:txBody>
      </p:sp>
      <p:sp>
        <p:nvSpPr>
          <p:cNvPr id="6" name="Footer Placeholder 5">
            <a:extLst>
              <a:ext uri="{FF2B5EF4-FFF2-40B4-BE49-F238E27FC236}">
                <a16:creationId xmlns:a16="http://schemas.microsoft.com/office/drawing/2014/main" id="{7375AF29-8732-4118-15BA-EB6819A88F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232895-F629-A770-59CB-019D0799048F}"/>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2031523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05B1D-3EC5-C1D3-86D9-CBE73ABA8C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9FD50D-A2D1-D8CF-E62A-544B69DBC9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B3815A-1ECD-BF47-8AFD-676E65DEA8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22AB30-D5C6-E037-4A43-583D09111F69}"/>
              </a:ext>
            </a:extLst>
          </p:cNvPr>
          <p:cNvSpPr>
            <a:spLocks noGrp="1"/>
          </p:cNvSpPr>
          <p:nvPr>
            <p:ph type="dt" sz="half" idx="10"/>
          </p:nvPr>
        </p:nvSpPr>
        <p:spPr/>
        <p:txBody>
          <a:bodyPr/>
          <a:lstStyle/>
          <a:p>
            <a:fld id="{82B1C2C3-D437-4CB5-914C-06113AC135BA}" type="datetimeFigureOut">
              <a:rPr lang="en-US" smtClean="0"/>
              <a:t>3/2/2026</a:t>
            </a:fld>
            <a:endParaRPr lang="en-US"/>
          </a:p>
        </p:txBody>
      </p:sp>
      <p:sp>
        <p:nvSpPr>
          <p:cNvPr id="6" name="Footer Placeholder 5">
            <a:extLst>
              <a:ext uri="{FF2B5EF4-FFF2-40B4-BE49-F238E27FC236}">
                <a16:creationId xmlns:a16="http://schemas.microsoft.com/office/drawing/2014/main" id="{9DE059D8-393D-9269-8F72-F4D762FD48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66C2B6-853A-5E13-792D-6FCE04307FEC}"/>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10522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6EA68-9D92-5460-8CB8-877D822608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356B5ED-97FC-0B04-D739-51473EDC82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3C1328-5A1F-9765-2945-33118F55BC0D}"/>
              </a:ext>
            </a:extLst>
          </p:cNvPr>
          <p:cNvSpPr>
            <a:spLocks noGrp="1"/>
          </p:cNvSpPr>
          <p:nvPr>
            <p:ph type="dt" sz="half" idx="10"/>
          </p:nvPr>
        </p:nvSpPr>
        <p:spPr/>
        <p:txBody>
          <a:bodyPr/>
          <a:lstStyle/>
          <a:p>
            <a:fld id="{82B1C2C3-D437-4CB5-914C-06113AC135BA}" type="datetimeFigureOut">
              <a:rPr lang="en-US" smtClean="0"/>
              <a:t>3/2/2026</a:t>
            </a:fld>
            <a:endParaRPr lang="en-US"/>
          </a:p>
        </p:txBody>
      </p:sp>
      <p:sp>
        <p:nvSpPr>
          <p:cNvPr id="5" name="Footer Placeholder 4">
            <a:extLst>
              <a:ext uri="{FF2B5EF4-FFF2-40B4-BE49-F238E27FC236}">
                <a16:creationId xmlns:a16="http://schemas.microsoft.com/office/drawing/2014/main" id="{64B3B48D-E0D5-8690-FA67-E5F5D50B22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5BA210-CBBA-DF7E-094F-E947A61EF274}"/>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678980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C6AE7-DF3B-B26B-A8C2-5FCA2B3BF6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1B61CD-9425-24B4-BADB-5488040569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8A9BEB-72F1-1BFA-5986-B6A769F8C89F}"/>
              </a:ext>
            </a:extLst>
          </p:cNvPr>
          <p:cNvSpPr>
            <a:spLocks noGrp="1"/>
          </p:cNvSpPr>
          <p:nvPr>
            <p:ph type="dt" sz="half" idx="10"/>
          </p:nvPr>
        </p:nvSpPr>
        <p:spPr/>
        <p:txBody>
          <a:bodyPr/>
          <a:lstStyle/>
          <a:p>
            <a:fld id="{82B1C2C3-D437-4CB5-914C-06113AC135BA}" type="datetimeFigureOut">
              <a:rPr lang="en-US" smtClean="0"/>
              <a:t>3/2/2026</a:t>
            </a:fld>
            <a:endParaRPr lang="en-US"/>
          </a:p>
        </p:txBody>
      </p:sp>
      <p:sp>
        <p:nvSpPr>
          <p:cNvPr id="5" name="Footer Placeholder 4">
            <a:extLst>
              <a:ext uri="{FF2B5EF4-FFF2-40B4-BE49-F238E27FC236}">
                <a16:creationId xmlns:a16="http://schemas.microsoft.com/office/drawing/2014/main" id="{218C5001-B835-1714-6312-711763F94F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C472AF-1618-4117-8310-0D411A2860AE}"/>
              </a:ext>
            </a:extLst>
          </p:cNvPr>
          <p:cNvSpPr>
            <a:spLocks noGrp="1"/>
          </p:cNvSpPr>
          <p:nvPr>
            <p:ph type="sldNum" sz="quarter" idx="12"/>
          </p:nvPr>
        </p:nvSpPr>
        <p:spPr/>
        <p:txBody>
          <a:bodyPr/>
          <a:lstStyle/>
          <a:p>
            <a:fld id="{CB98862C-60D9-4F89-B777-7F7E7DA842C3}" type="slidenum">
              <a:rPr lang="en-US" smtClean="0"/>
              <a:t>‹#›</a:t>
            </a:fld>
            <a:endParaRPr lang="en-US"/>
          </a:p>
        </p:txBody>
      </p:sp>
    </p:spTree>
    <p:extLst>
      <p:ext uri="{BB962C8B-B14F-4D97-AF65-F5344CB8AC3E}">
        <p14:creationId xmlns:p14="http://schemas.microsoft.com/office/powerpoint/2010/main" val="3153456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974BA9-8D09-4F55-B036-7528C4CE609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05D805-BBDF-32AA-3358-4B98B58FA6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75C215-BA26-3506-EE23-5160A452DD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B1C2C3-D437-4CB5-914C-06113AC135BA}" type="datetimeFigureOut">
              <a:rPr lang="en-US" smtClean="0"/>
              <a:t>3/2/2026</a:t>
            </a:fld>
            <a:endParaRPr lang="en-US"/>
          </a:p>
        </p:txBody>
      </p:sp>
      <p:sp>
        <p:nvSpPr>
          <p:cNvPr id="5" name="Footer Placeholder 4">
            <a:extLst>
              <a:ext uri="{FF2B5EF4-FFF2-40B4-BE49-F238E27FC236}">
                <a16:creationId xmlns:a16="http://schemas.microsoft.com/office/drawing/2014/main" id="{E86A3C0D-F5D3-8B83-7CE1-012B45638A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26E66D-745C-9FAA-A9BF-2FA29E0EDC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98862C-60D9-4F89-B777-7F7E7DA842C3}" type="slidenum">
              <a:rPr lang="en-US" smtClean="0"/>
              <a:t>‹#›</a:t>
            </a:fld>
            <a:endParaRPr lang="en-US"/>
          </a:p>
        </p:txBody>
      </p:sp>
    </p:spTree>
    <p:extLst>
      <p:ext uri="{BB962C8B-B14F-4D97-AF65-F5344CB8AC3E}">
        <p14:creationId xmlns:p14="http://schemas.microsoft.com/office/powerpoint/2010/main" val="2810814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F493B-3D3D-0AB7-8573-E791A9E246B6}"/>
              </a:ext>
            </a:extLst>
          </p:cNvPr>
          <p:cNvSpPr>
            <a:spLocks noGrp="1"/>
          </p:cNvSpPr>
          <p:nvPr>
            <p:ph type="ctrTitle"/>
          </p:nvPr>
        </p:nvSpPr>
        <p:spPr>
          <a:xfrm>
            <a:off x="593235" y="406400"/>
            <a:ext cx="10913476" cy="2387600"/>
          </a:xfrm>
        </p:spPr>
        <p:txBody>
          <a:bodyPr/>
          <a:lstStyle/>
          <a:p>
            <a:r>
              <a:rPr lang="en-US"/>
              <a:t>Chat Healthy	</a:t>
            </a:r>
            <a:br>
              <a:rPr lang="en-US"/>
            </a:br>
            <a:r>
              <a:rPr lang="en-US" sz="3200" i="1"/>
              <a:t>A Consumer web site supporting a chat interface to finding care</a:t>
            </a:r>
            <a:br>
              <a:rPr lang="en-US"/>
            </a:br>
            <a:endParaRPr lang="en-US" sz="2800" dirty="0"/>
          </a:p>
        </p:txBody>
      </p:sp>
      <p:sp>
        <p:nvSpPr>
          <p:cNvPr id="3" name="Subtitle 2">
            <a:extLst>
              <a:ext uri="{FF2B5EF4-FFF2-40B4-BE49-F238E27FC236}">
                <a16:creationId xmlns:a16="http://schemas.microsoft.com/office/drawing/2014/main" id="{C04DD1E0-AAE0-588B-2D95-6618B63A2AD5}"/>
              </a:ext>
            </a:extLst>
          </p:cNvPr>
          <p:cNvSpPr>
            <a:spLocks noGrp="1"/>
          </p:cNvSpPr>
          <p:nvPr>
            <p:ph type="subTitle" idx="1"/>
          </p:nvPr>
        </p:nvSpPr>
        <p:spPr/>
        <p:txBody>
          <a:bodyPr/>
          <a:lstStyle/>
          <a:p>
            <a:r>
              <a:rPr lang="en-US"/>
              <a:t>https://www.chathealthy.ai</a:t>
            </a:r>
            <a:endParaRPr lang="en-US" dirty="0"/>
          </a:p>
        </p:txBody>
      </p:sp>
    </p:spTree>
    <p:extLst>
      <p:ext uri="{BB962C8B-B14F-4D97-AF65-F5344CB8AC3E}">
        <p14:creationId xmlns:p14="http://schemas.microsoft.com/office/powerpoint/2010/main" val="2545844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87721-0EA8-D9F6-8F33-FCE1615E926D}"/>
              </a:ext>
            </a:extLst>
          </p:cNvPr>
          <p:cNvSpPr>
            <a:spLocks noGrp="1"/>
          </p:cNvSpPr>
          <p:nvPr>
            <p:ph type="title"/>
          </p:nvPr>
        </p:nvSpPr>
        <p:spPr>
          <a:xfrm>
            <a:off x="149087" y="0"/>
            <a:ext cx="10515600" cy="1325563"/>
          </a:xfrm>
        </p:spPr>
        <p:txBody>
          <a:bodyPr/>
          <a:lstStyle/>
          <a:p>
            <a:r>
              <a:rPr lang="en-US" dirty="0"/>
              <a:t>Project goals</a:t>
            </a:r>
          </a:p>
        </p:txBody>
      </p:sp>
      <p:sp>
        <p:nvSpPr>
          <p:cNvPr id="3" name="Content Placeholder 2">
            <a:extLst>
              <a:ext uri="{FF2B5EF4-FFF2-40B4-BE49-F238E27FC236}">
                <a16:creationId xmlns:a16="http://schemas.microsoft.com/office/drawing/2014/main" id="{ED01B8D9-DA65-FC4E-DF50-72FE67B3F2B5}"/>
              </a:ext>
            </a:extLst>
          </p:cNvPr>
          <p:cNvSpPr>
            <a:spLocks noGrp="1"/>
          </p:cNvSpPr>
          <p:nvPr>
            <p:ph idx="1"/>
          </p:nvPr>
        </p:nvSpPr>
        <p:spPr>
          <a:xfrm>
            <a:off x="838200" y="1500369"/>
            <a:ext cx="10515600" cy="4351338"/>
          </a:xfrm>
        </p:spPr>
        <p:txBody>
          <a:bodyPr/>
          <a:lstStyle/>
          <a:p>
            <a:r>
              <a:rPr lang="en-US" dirty="0"/>
              <a:t>Create website that:</a:t>
            </a:r>
          </a:p>
          <a:p>
            <a:pPr lvl="1"/>
            <a:r>
              <a:rPr lang="en-US" dirty="0"/>
              <a:t> Allows via chat interface a user to find care.</a:t>
            </a:r>
          </a:p>
          <a:p>
            <a:pPr lvl="1"/>
            <a:r>
              <a:rPr lang="en-US" dirty="0"/>
              <a:t>Keep data fresh and accurate (phase 1 operational)</a:t>
            </a:r>
          </a:p>
          <a:p>
            <a:pPr lvl="1"/>
            <a:r>
              <a:rPr lang="en-US" dirty="0"/>
              <a:t>Allow users to ask general questions about the American health care system.</a:t>
            </a:r>
          </a:p>
          <a:p>
            <a:pPr lvl="1"/>
            <a:r>
              <a:rPr lang="en-US" dirty="0"/>
              <a:t>Do not under any circumstances give medical advise beyond what types of care to seek	 based on user input.</a:t>
            </a:r>
          </a:p>
          <a:p>
            <a:pPr lvl="1"/>
            <a:r>
              <a:rPr lang="en-US" dirty="0"/>
              <a:t>While ensuring user privacy, keep a log of user </a:t>
            </a:r>
            <a:r>
              <a:rPr lang="en-US" dirty="0" err="1"/>
              <a:t>activiteis</a:t>
            </a:r>
            <a:r>
              <a:rPr lang="en-US" dirty="0"/>
              <a:t> based on cookies and or registration. (Ensure that the HIPAA laws around ‘research data are preserved and declare in privacy statement that all user data is anonymized as per HIPAA standards. </a:t>
            </a:r>
          </a:p>
        </p:txBody>
      </p:sp>
    </p:spTree>
    <p:extLst>
      <p:ext uri="{BB962C8B-B14F-4D97-AF65-F5344CB8AC3E}">
        <p14:creationId xmlns:p14="http://schemas.microsoft.com/office/powerpoint/2010/main" val="2044576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F3A8B-45CB-F213-3E39-9E312BA74D76}"/>
              </a:ext>
            </a:extLst>
          </p:cNvPr>
          <p:cNvSpPr>
            <a:spLocks noGrp="1"/>
          </p:cNvSpPr>
          <p:nvPr>
            <p:ph type="title"/>
          </p:nvPr>
        </p:nvSpPr>
        <p:spPr>
          <a:xfrm>
            <a:off x="106680" y="0"/>
            <a:ext cx="10515600" cy="671195"/>
          </a:xfrm>
        </p:spPr>
        <p:txBody>
          <a:bodyPr>
            <a:normAutofit fontScale="90000"/>
          </a:bodyPr>
          <a:lstStyle/>
          <a:p>
            <a:r>
              <a:rPr lang="en-US" dirty="0"/>
              <a:t>Core Component architecture</a:t>
            </a:r>
          </a:p>
        </p:txBody>
      </p:sp>
      <p:sp>
        <p:nvSpPr>
          <p:cNvPr id="4" name="Rectangle 3">
            <a:extLst>
              <a:ext uri="{FF2B5EF4-FFF2-40B4-BE49-F238E27FC236}">
                <a16:creationId xmlns:a16="http://schemas.microsoft.com/office/drawing/2014/main" id="{3D6956DF-1623-F1AF-C313-CF07F5C30AB9}"/>
              </a:ext>
            </a:extLst>
          </p:cNvPr>
          <p:cNvSpPr/>
          <p:nvPr/>
        </p:nvSpPr>
        <p:spPr>
          <a:xfrm>
            <a:off x="618282" y="1109554"/>
            <a:ext cx="4903894" cy="53509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dirty="0"/>
              <a:t>Azure</a:t>
            </a:r>
          </a:p>
          <a:p>
            <a:pPr algn="ctr"/>
            <a:endParaRPr lang="en-US" dirty="0"/>
          </a:p>
        </p:txBody>
      </p:sp>
      <p:sp>
        <p:nvSpPr>
          <p:cNvPr id="6" name="Rectangle 5">
            <a:extLst>
              <a:ext uri="{FF2B5EF4-FFF2-40B4-BE49-F238E27FC236}">
                <a16:creationId xmlns:a16="http://schemas.microsoft.com/office/drawing/2014/main" id="{813C53A9-0024-0F0C-B39C-E06D56DB2D47}"/>
              </a:ext>
            </a:extLst>
          </p:cNvPr>
          <p:cNvSpPr/>
          <p:nvPr/>
        </p:nvSpPr>
        <p:spPr>
          <a:xfrm>
            <a:off x="724747" y="1706879"/>
            <a:ext cx="2451946" cy="1205654"/>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dirty="0">
                <a:solidFill>
                  <a:schemeClr val="tx1"/>
                </a:solidFill>
              </a:rPr>
              <a:t>Subscription: </a:t>
            </a:r>
            <a:r>
              <a:rPr lang="en-US" sz="1400" dirty="0" err="1">
                <a:solidFill>
                  <a:schemeClr val="tx1"/>
                </a:solidFill>
              </a:rPr>
              <a:t>FindCare</a:t>
            </a:r>
            <a:r>
              <a:rPr lang="en-US" sz="1400" dirty="0">
                <a:solidFill>
                  <a:schemeClr val="tx1"/>
                </a:solidFill>
              </a:rPr>
              <a:t>-AI</a:t>
            </a:r>
          </a:p>
        </p:txBody>
      </p:sp>
      <p:sp>
        <p:nvSpPr>
          <p:cNvPr id="3" name="Rectangle 2">
            <a:extLst>
              <a:ext uri="{FF2B5EF4-FFF2-40B4-BE49-F238E27FC236}">
                <a16:creationId xmlns:a16="http://schemas.microsoft.com/office/drawing/2014/main" id="{C2B25ECF-6118-ADE8-4119-369A8A3E6411}"/>
              </a:ext>
            </a:extLst>
          </p:cNvPr>
          <p:cNvSpPr/>
          <p:nvPr/>
        </p:nvSpPr>
        <p:spPr>
          <a:xfrm>
            <a:off x="6263218" y="1194448"/>
            <a:ext cx="3193765" cy="28313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dirty="0"/>
              <a:t>Cloudflare</a:t>
            </a:r>
          </a:p>
          <a:p>
            <a:pPr algn="ctr"/>
            <a:r>
              <a:rPr lang="en-US" dirty="0"/>
              <a:t>chatHealthy.ai</a:t>
            </a:r>
          </a:p>
          <a:p>
            <a:pPr algn="ctr"/>
            <a:endParaRPr lang="en-US" dirty="0"/>
          </a:p>
        </p:txBody>
      </p:sp>
      <p:sp>
        <p:nvSpPr>
          <p:cNvPr id="8" name="Rectangle 7">
            <a:extLst>
              <a:ext uri="{FF2B5EF4-FFF2-40B4-BE49-F238E27FC236}">
                <a16:creationId xmlns:a16="http://schemas.microsoft.com/office/drawing/2014/main" id="{0466C92B-A5C3-84E6-80AA-0DBADA80D8C3}"/>
              </a:ext>
            </a:extLst>
          </p:cNvPr>
          <p:cNvSpPr/>
          <p:nvPr/>
        </p:nvSpPr>
        <p:spPr>
          <a:xfrm>
            <a:off x="6339430" y="4394029"/>
            <a:ext cx="3332343" cy="20664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2800"/>
              <a:t>Mongo</a:t>
            </a:r>
            <a:endParaRPr lang="en-US" dirty="0"/>
          </a:p>
          <a:p>
            <a:pPr algn="ctr"/>
            <a:endParaRPr lang="en-US" dirty="0"/>
          </a:p>
        </p:txBody>
      </p:sp>
    </p:spTree>
    <p:extLst>
      <p:ext uri="{BB962C8B-B14F-4D97-AF65-F5344CB8AC3E}">
        <p14:creationId xmlns:p14="http://schemas.microsoft.com/office/powerpoint/2010/main" val="649129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7F60F-8368-905B-9F42-75E39B38819B}"/>
              </a:ext>
            </a:extLst>
          </p:cNvPr>
          <p:cNvSpPr>
            <a:spLocks noGrp="1"/>
          </p:cNvSpPr>
          <p:nvPr>
            <p:ph type="title"/>
          </p:nvPr>
        </p:nvSpPr>
        <p:spPr/>
        <p:txBody>
          <a:bodyPr/>
          <a:lstStyle/>
          <a:p>
            <a:r>
              <a:rPr lang="en-US" dirty="0"/>
              <a:t>Commercial application of web site</a:t>
            </a:r>
          </a:p>
        </p:txBody>
      </p:sp>
      <p:sp>
        <p:nvSpPr>
          <p:cNvPr id="3" name="Content Placeholder 2">
            <a:extLst>
              <a:ext uri="{FF2B5EF4-FFF2-40B4-BE49-F238E27FC236}">
                <a16:creationId xmlns:a16="http://schemas.microsoft.com/office/drawing/2014/main" id="{DF32CF06-6CF1-3D56-A57E-AD0B5EAE779B}"/>
              </a:ext>
            </a:extLst>
          </p:cNvPr>
          <p:cNvSpPr>
            <a:spLocks noGrp="1"/>
          </p:cNvSpPr>
          <p:nvPr>
            <p:ph idx="1"/>
          </p:nvPr>
        </p:nvSpPr>
        <p:spPr/>
        <p:txBody>
          <a:bodyPr/>
          <a:lstStyle/>
          <a:p>
            <a:r>
              <a:rPr lang="en-US" dirty="0"/>
              <a:t>As of now this is thought of as an AI portfolio piece by Skip Snow without commercial implications.</a:t>
            </a:r>
          </a:p>
        </p:txBody>
      </p:sp>
    </p:spTree>
    <p:extLst>
      <p:ext uri="{BB962C8B-B14F-4D97-AF65-F5344CB8AC3E}">
        <p14:creationId xmlns:p14="http://schemas.microsoft.com/office/powerpoint/2010/main" val="2505143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ADB60-E9B2-1519-D538-28CD02C88F06}"/>
              </a:ext>
            </a:extLst>
          </p:cNvPr>
          <p:cNvSpPr>
            <a:spLocks noGrp="1"/>
          </p:cNvSpPr>
          <p:nvPr>
            <p:ph type="title"/>
          </p:nvPr>
        </p:nvSpPr>
        <p:spPr/>
        <p:txBody>
          <a:bodyPr/>
          <a:lstStyle/>
          <a:p>
            <a:r>
              <a:rPr lang="en-US" dirty="0"/>
              <a:t>Data Pipelines</a:t>
            </a:r>
          </a:p>
        </p:txBody>
      </p:sp>
      <p:sp>
        <p:nvSpPr>
          <p:cNvPr id="3" name="Content Placeholder 2">
            <a:extLst>
              <a:ext uri="{FF2B5EF4-FFF2-40B4-BE49-F238E27FC236}">
                <a16:creationId xmlns:a16="http://schemas.microsoft.com/office/drawing/2014/main" id="{B36CE97F-0AEB-E9C9-CD62-E88A8E13296E}"/>
              </a:ext>
            </a:extLst>
          </p:cNvPr>
          <p:cNvSpPr>
            <a:spLocks noGrp="1"/>
          </p:cNvSpPr>
          <p:nvPr>
            <p:ph idx="1"/>
          </p:nvPr>
        </p:nvSpPr>
        <p:spPr/>
        <p:txBody>
          <a:bodyPr/>
          <a:lstStyle/>
          <a:p>
            <a:r>
              <a:rPr lang="en-US" dirty="0"/>
              <a:t>There are several data sources that contribute to this effort and they must be kept fresh. This means that on a schedule the data must be refreshed by the pipeline without human oversight.</a:t>
            </a:r>
          </a:p>
          <a:p>
            <a:r>
              <a:rPr lang="en-US" dirty="0"/>
              <a:t>Major data sources</a:t>
            </a:r>
          </a:p>
          <a:p>
            <a:pPr lvl="1"/>
            <a:r>
              <a:rPr lang="en-US" dirty="0"/>
              <a:t>National provider data</a:t>
            </a:r>
          </a:p>
          <a:p>
            <a:pPr lvl="2"/>
            <a:endParaRPr lang="en-US" dirty="0"/>
          </a:p>
        </p:txBody>
      </p:sp>
    </p:spTree>
    <p:extLst>
      <p:ext uri="{BB962C8B-B14F-4D97-AF65-F5344CB8AC3E}">
        <p14:creationId xmlns:p14="http://schemas.microsoft.com/office/powerpoint/2010/main" val="2213259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7E0430-9266-C61F-62F1-66ACEFBC489D}"/>
              </a:ext>
            </a:extLst>
          </p:cNvPr>
          <p:cNvSpPr>
            <a:spLocks noGrp="1"/>
          </p:cNvSpPr>
          <p:nvPr>
            <p:ph type="title"/>
          </p:nvPr>
        </p:nvSpPr>
        <p:spPr/>
        <p:txBody>
          <a:bodyPr/>
          <a:lstStyle/>
          <a:p>
            <a:r>
              <a:rPr lang="en-US" dirty="0"/>
              <a:t>Appendix</a:t>
            </a:r>
          </a:p>
        </p:txBody>
      </p:sp>
      <p:sp>
        <p:nvSpPr>
          <p:cNvPr id="5" name="Content Placeholder 4">
            <a:extLst>
              <a:ext uri="{FF2B5EF4-FFF2-40B4-BE49-F238E27FC236}">
                <a16:creationId xmlns:a16="http://schemas.microsoft.com/office/drawing/2014/main" id="{4ED5FF93-4C27-E8C8-FFF0-5BFD07E4923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97819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D0D87-F2B0-8B2D-EF2E-46095805DFAF}"/>
              </a:ext>
            </a:extLst>
          </p:cNvPr>
          <p:cNvSpPr>
            <a:spLocks noGrp="1"/>
          </p:cNvSpPr>
          <p:nvPr>
            <p:ph type="title"/>
          </p:nvPr>
        </p:nvSpPr>
        <p:spPr>
          <a:xfrm>
            <a:off x="838200" y="365126"/>
            <a:ext cx="10515600" cy="840528"/>
          </a:xfrm>
        </p:spPr>
        <p:txBody>
          <a:bodyPr/>
          <a:lstStyle/>
          <a:p>
            <a:r>
              <a:rPr lang="en-US" dirty="0"/>
              <a:t>Azure deployment Architecture</a:t>
            </a:r>
          </a:p>
        </p:txBody>
      </p:sp>
      <p:sp>
        <p:nvSpPr>
          <p:cNvPr id="3" name="Content Placeholder 2">
            <a:extLst>
              <a:ext uri="{FF2B5EF4-FFF2-40B4-BE49-F238E27FC236}">
                <a16:creationId xmlns:a16="http://schemas.microsoft.com/office/drawing/2014/main" id="{B57A65A2-2228-D79B-C01D-3264AAB9155D}"/>
              </a:ext>
            </a:extLst>
          </p:cNvPr>
          <p:cNvSpPr>
            <a:spLocks noGrp="1"/>
          </p:cNvSpPr>
          <p:nvPr>
            <p:ph idx="1"/>
          </p:nvPr>
        </p:nvSpPr>
        <p:spPr>
          <a:xfrm>
            <a:off x="458894" y="1541145"/>
            <a:ext cx="3787987" cy="4351338"/>
          </a:xfrm>
        </p:spPr>
        <p:txBody>
          <a:bodyPr>
            <a:normAutofit fontScale="32500" lnSpcReduction="20000"/>
          </a:bodyPr>
          <a:lstStyle/>
          <a:p>
            <a:r>
              <a:rPr lang="en-US"/>
              <a:t>Subscription: ChatHealthy</a:t>
            </a:r>
          </a:p>
          <a:p>
            <a:r>
              <a:rPr lang="en-US"/>
              <a:t>└── Resource Group: ChatHealthyDataPipelines</a:t>
            </a:r>
          </a:p>
          <a:p>
            <a:r>
              <a:rPr lang="en-US"/>
              <a:t>    ├── Tag: environment → dev | qa | prod</a:t>
            </a:r>
          </a:p>
          <a:p>
            <a:r>
              <a:rPr lang="en-US"/>
              <a:t>    ├── Tag: version     → 1.0.0</a:t>
            </a:r>
          </a:p>
          <a:p>
            <a:r>
              <a:rPr lang="en-US"/>
              <a:t>    │</a:t>
            </a:r>
          </a:p>
          <a:p>
            <a:r>
              <a:rPr lang="en-US"/>
              <a:t>    ├── Namespace: PipelineInfrastructure [SHARED]</a:t>
            </a:r>
          </a:p>
          <a:p>
            <a:r>
              <a:rPr lang="en-US"/>
              <a:t>    │   ├── Storage Account [SHARED]</a:t>
            </a:r>
          </a:p>
          <a:p>
            <a:r>
              <a:rPr lang="en-US"/>
              <a:t>    │   │   └── Blob Container</a:t>
            </a:r>
          </a:p>
          <a:p>
            <a:r>
              <a:rPr lang="en-US"/>
              <a:t>    │   │       └── Tag: environment → dev</a:t>
            </a:r>
          </a:p>
          <a:p>
            <a:r>
              <a:rPr lang="en-US"/>
              <a:t>    │   ├── Virtual Network / Subnet [SHARED]</a:t>
            </a:r>
          </a:p>
          <a:p>
            <a:r>
              <a:rPr lang="en-US"/>
              <a:t>    │   └── Key Vault [SHARED]</a:t>
            </a:r>
          </a:p>
          <a:p>
            <a:r>
              <a:rPr lang="en-US"/>
              <a:t>    │</a:t>
            </a:r>
          </a:p>
          <a:p>
            <a:r>
              <a:rPr lang="en-US"/>
              <a:t>    └── Namespace: ProviderDataPipelineApp</a:t>
            </a:r>
          </a:p>
          <a:p>
            <a:r>
              <a:rPr lang="en-US"/>
              <a:t>        ├── Function App: FetchAndDistributeProviderData</a:t>
            </a:r>
          </a:p>
          <a:p>
            <a:r>
              <a:rPr lang="en-US"/>
              <a:t>        │   └── Tag: environment → dev</a:t>
            </a:r>
          </a:p>
          <a:p>
            <a:r>
              <a:rPr lang="en-US"/>
              <a:t>        ├── Function App: NPDBDataToMongo</a:t>
            </a:r>
          </a:p>
          <a:p>
            <a:r>
              <a:rPr lang="en-US"/>
              <a:t>        │   └── Tag: environment → dev</a:t>
            </a:r>
          </a:p>
          <a:p>
            <a:r>
              <a:rPr lang="en-US"/>
              <a:t>        └── Storage → ref: PipelineInfrastructure</a:t>
            </a:r>
            <a:endParaRPr lang="en-US" dirty="0"/>
          </a:p>
        </p:txBody>
      </p:sp>
      <p:sp>
        <p:nvSpPr>
          <p:cNvPr id="4" name="TextBox 3">
            <a:extLst>
              <a:ext uri="{FF2B5EF4-FFF2-40B4-BE49-F238E27FC236}">
                <a16:creationId xmlns:a16="http://schemas.microsoft.com/office/drawing/2014/main" id="{D7F92A63-5EF3-52A3-0F23-0077A9ABC82E}"/>
              </a:ext>
            </a:extLst>
          </p:cNvPr>
          <p:cNvSpPr txBox="1"/>
          <p:nvPr/>
        </p:nvSpPr>
        <p:spPr>
          <a:xfrm>
            <a:off x="3578012" y="1541145"/>
            <a:ext cx="7775788"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tx1">
                    <a:lumMod val="65000"/>
                    <a:lumOff val="35000"/>
                  </a:schemeClr>
                </a:solidFill>
              </a:rPr>
              <a:t>The use of deployment facts in a predictable matter allow for a business to respond to changes to its operating model. </a:t>
            </a:r>
          </a:p>
          <a:p>
            <a:pPr marL="742950" lvl="1" indent="-285750">
              <a:buFont typeface="Arial" panose="020B0604020202020204" pitchFamily="34" charset="0"/>
              <a:buChar char="•"/>
            </a:pPr>
            <a:r>
              <a:rPr lang="en-US" sz="2400" dirty="0">
                <a:solidFill>
                  <a:schemeClr val="tx1">
                    <a:lumMod val="65000"/>
                    <a:lumOff val="35000"/>
                  </a:schemeClr>
                </a:solidFill>
              </a:rPr>
              <a:t>Resource groups can cross all boundaries but should be </a:t>
            </a:r>
            <a:r>
              <a:rPr lang="en-US" sz="2400" dirty="0" err="1">
                <a:solidFill>
                  <a:schemeClr val="tx1">
                    <a:lumMod val="65000"/>
                    <a:lumOff val="35000"/>
                  </a:schemeClr>
                </a:solidFill>
              </a:rPr>
              <a:t>maped</a:t>
            </a:r>
            <a:r>
              <a:rPr lang="en-US" sz="2400" dirty="0">
                <a:solidFill>
                  <a:schemeClr val="tx1">
                    <a:lumMod val="65000"/>
                    <a:lumOff val="35000"/>
                  </a:schemeClr>
                </a:solidFill>
              </a:rPr>
              <a:t> to an accounting and HR model. </a:t>
            </a:r>
          </a:p>
          <a:p>
            <a:pPr marL="742950" lvl="1" indent="-285750">
              <a:buFont typeface="Arial" panose="020B0604020202020204" pitchFamily="34" charset="0"/>
              <a:buChar char="•"/>
            </a:pPr>
            <a:r>
              <a:rPr lang="en-US" sz="2400" dirty="0">
                <a:solidFill>
                  <a:schemeClr val="tx1">
                    <a:lumMod val="65000"/>
                    <a:lumOff val="35000"/>
                  </a:schemeClr>
                </a:solidFill>
              </a:rPr>
              <a:t>Other resource groups to be created are and two are planed, </a:t>
            </a:r>
          </a:p>
          <a:p>
            <a:pPr marL="1200150" lvl="2" indent="-285750">
              <a:buFont typeface="Arial" panose="020B0604020202020204" pitchFamily="34" charset="0"/>
              <a:buChar char="•"/>
            </a:pPr>
            <a:r>
              <a:rPr lang="en-US" sz="2400" dirty="0">
                <a:solidFill>
                  <a:schemeClr val="tx1">
                    <a:lumMod val="65000"/>
                    <a:lumOff val="35000"/>
                  </a:schemeClr>
                </a:solidFill>
              </a:rPr>
              <a:t>Chat </a:t>
            </a:r>
            <a:r>
              <a:rPr lang="en-US" sz="2400" dirty="0" err="1">
                <a:solidFill>
                  <a:schemeClr val="tx1">
                    <a:lumMod val="65000"/>
                    <a:lumOff val="35000"/>
                  </a:schemeClr>
                </a:solidFill>
              </a:rPr>
              <a:t>HealthyTest</a:t>
            </a:r>
            <a:r>
              <a:rPr lang="en-US" sz="2400" dirty="0">
                <a:solidFill>
                  <a:schemeClr val="tx1">
                    <a:lumMod val="65000"/>
                    <a:lumOff val="35000"/>
                  </a:schemeClr>
                </a:solidFill>
              </a:rPr>
              <a:t>,  This is where the accuracy  chat Healthy's responses are tested against Boolean based criteria. And design decisions are revisited. </a:t>
            </a:r>
          </a:p>
          <a:p>
            <a:pPr marL="1200150" lvl="2" indent="-285750">
              <a:buFont typeface="Arial" panose="020B0604020202020204" pitchFamily="34" charset="0"/>
              <a:buChar char="•"/>
            </a:pPr>
            <a:r>
              <a:rPr lang="en-US" sz="2400" dirty="0">
                <a:solidFill>
                  <a:schemeClr val="tx1">
                    <a:lumMod val="65000"/>
                    <a:lumOff val="35000"/>
                  </a:schemeClr>
                </a:solidFill>
              </a:rPr>
              <a:t>Find Care Run Time application</a:t>
            </a:r>
          </a:p>
          <a:p>
            <a:pPr marL="742950" lvl="1" indent="-285750">
              <a:buFont typeface="Arial" panose="020B0604020202020204" pitchFamily="34" charset="0"/>
              <a:buChar char="•"/>
            </a:pPr>
            <a:r>
              <a:rPr lang="en-US" sz="2400" dirty="0">
                <a:solidFill>
                  <a:schemeClr val="tx1">
                    <a:lumMod val="65000"/>
                    <a:lumOff val="35000"/>
                  </a:schemeClr>
                </a:solidFill>
              </a:rPr>
              <a:t>There is only 1 azure subscription</a:t>
            </a:r>
            <a:r>
              <a:rPr lang="en-US" dirty="0">
                <a:solidFill>
                  <a:schemeClr val="tx1">
                    <a:lumMod val="65000"/>
                    <a:lumOff val="35000"/>
                  </a:schemeClr>
                </a:solidFill>
              </a:rPr>
              <a:t>. </a:t>
            </a:r>
          </a:p>
        </p:txBody>
      </p:sp>
    </p:spTree>
    <p:extLst>
      <p:ext uri="{BB962C8B-B14F-4D97-AF65-F5344CB8AC3E}">
        <p14:creationId xmlns:p14="http://schemas.microsoft.com/office/powerpoint/2010/main" val="1988505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3334</TotalTime>
  <Words>420</Words>
  <Application>Microsoft Office PowerPoint</Application>
  <PresentationFormat>Widescreen</PresentationFormat>
  <Paragraphs>47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Chat Healthy  A Consumer web site supporting a chat interface to finding care </vt:lpstr>
      <vt:lpstr>Project goals</vt:lpstr>
      <vt:lpstr>Core Component architecture</vt:lpstr>
      <vt:lpstr>Commercial application of web site</vt:lpstr>
      <vt:lpstr>Data Pipelines</vt:lpstr>
      <vt:lpstr>Appendix</vt:lpstr>
      <vt:lpstr>Azure deployment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skip snow</dc:creator>
  <cp:lastModifiedBy>skip snow</cp:lastModifiedBy>
  <cp:revision>5</cp:revision>
  <dcterms:created xsi:type="dcterms:W3CDTF">2026-01-17T19:25:09Z</dcterms:created>
  <dcterms:modified xsi:type="dcterms:W3CDTF">2026-03-03T03:08:02Z</dcterms:modified>
</cp:coreProperties>
</file>