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51" d="100"/>
          <a:sy n="51" d="100"/>
        </p:scale>
        <p:origin x="1220"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6E2D3-0453-3644-985D-C4CA1FF8A2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FB364B5-C206-EF5E-A991-F139D9FEA6E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D48176B-2977-E475-BA08-7EBCCC67CB0C}"/>
              </a:ext>
            </a:extLst>
          </p:cNvPr>
          <p:cNvSpPr>
            <a:spLocks noGrp="1"/>
          </p:cNvSpPr>
          <p:nvPr>
            <p:ph type="dt" sz="half" idx="10"/>
          </p:nvPr>
        </p:nvSpPr>
        <p:spPr/>
        <p:txBody>
          <a:bodyPr/>
          <a:lstStyle/>
          <a:p>
            <a:fld id="{82B1C2C3-D437-4CB5-914C-06113AC135BA}" type="datetimeFigureOut">
              <a:rPr lang="en-US" smtClean="0"/>
              <a:t>1/21/2026</a:t>
            </a:fld>
            <a:endParaRPr lang="en-US"/>
          </a:p>
        </p:txBody>
      </p:sp>
      <p:sp>
        <p:nvSpPr>
          <p:cNvPr id="5" name="Footer Placeholder 4">
            <a:extLst>
              <a:ext uri="{FF2B5EF4-FFF2-40B4-BE49-F238E27FC236}">
                <a16:creationId xmlns:a16="http://schemas.microsoft.com/office/drawing/2014/main" id="{9F46ED30-CB7F-69E9-4EF2-624FBEE60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4FF379-4DA4-9138-4672-064ACEC93907}"/>
              </a:ext>
            </a:extLst>
          </p:cNvPr>
          <p:cNvSpPr>
            <a:spLocks noGrp="1"/>
          </p:cNvSpPr>
          <p:nvPr>
            <p:ph type="sldNum" sz="quarter" idx="12"/>
          </p:nvPr>
        </p:nvSpPr>
        <p:spPr/>
        <p:txBody>
          <a:bodyPr/>
          <a:lstStyle/>
          <a:p>
            <a:fld id="{CB98862C-60D9-4F89-B777-7F7E7DA842C3}" type="slidenum">
              <a:rPr lang="en-US" smtClean="0"/>
              <a:t>‹#›</a:t>
            </a:fld>
            <a:endParaRPr lang="en-US"/>
          </a:p>
        </p:txBody>
      </p:sp>
    </p:spTree>
    <p:extLst>
      <p:ext uri="{BB962C8B-B14F-4D97-AF65-F5344CB8AC3E}">
        <p14:creationId xmlns:p14="http://schemas.microsoft.com/office/powerpoint/2010/main" val="2705034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AAD42-76A8-E47B-CCBF-71DF54AFA59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2A9EDF4-478F-5A6F-8B47-7297A51DA07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DF5F9A-3045-F826-1BEA-96264008536E}"/>
              </a:ext>
            </a:extLst>
          </p:cNvPr>
          <p:cNvSpPr>
            <a:spLocks noGrp="1"/>
          </p:cNvSpPr>
          <p:nvPr>
            <p:ph type="dt" sz="half" idx="10"/>
          </p:nvPr>
        </p:nvSpPr>
        <p:spPr/>
        <p:txBody>
          <a:bodyPr/>
          <a:lstStyle/>
          <a:p>
            <a:fld id="{82B1C2C3-D437-4CB5-914C-06113AC135BA}" type="datetimeFigureOut">
              <a:rPr lang="en-US" smtClean="0"/>
              <a:t>1/21/2026</a:t>
            </a:fld>
            <a:endParaRPr lang="en-US"/>
          </a:p>
        </p:txBody>
      </p:sp>
      <p:sp>
        <p:nvSpPr>
          <p:cNvPr id="5" name="Footer Placeholder 4">
            <a:extLst>
              <a:ext uri="{FF2B5EF4-FFF2-40B4-BE49-F238E27FC236}">
                <a16:creationId xmlns:a16="http://schemas.microsoft.com/office/drawing/2014/main" id="{51ED8A9B-5F6A-04CC-2C77-3282E591C6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6D2BF3-1A63-9230-282E-1971E3094634}"/>
              </a:ext>
            </a:extLst>
          </p:cNvPr>
          <p:cNvSpPr>
            <a:spLocks noGrp="1"/>
          </p:cNvSpPr>
          <p:nvPr>
            <p:ph type="sldNum" sz="quarter" idx="12"/>
          </p:nvPr>
        </p:nvSpPr>
        <p:spPr/>
        <p:txBody>
          <a:bodyPr/>
          <a:lstStyle/>
          <a:p>
            <a:fld id="{CB98862C-60D9-4F89-B777-7F7E7DA842C3}" type="slidenum">
              <a:rPr lang="en-US" smtClean="0"/>
              <a:t>‹#›</a:t>
            </a:fld>
            <a:endParaRPr lang="en-US"/>
          </a:p>
        </p:txBody>
      </p:sp>
    </p:spTree>
    <p:extLst>
      <p:ext uri="{BB962C8B-B14F-4D97-AF65-F5344CB8AC3E}">
        <p14:creationId xmlns:p14="http://schemas.microsoft.com/office/powerpoint/2010/main" val="33222293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FF65A-F6ED-871A-1CE4-5F64B10F83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60809FD-D25F-196D-AFA1-C92E7974008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14B4761-384F-51C1-5A66-9A2CB18473B1}"/>
              </a:ext>
            </a:extLst>
          </p:cNvPr>
          <p:cNvSpPr>
            <a:spLocks noGrp="1"/>
          </p:cNvSpPr>
          <p:nvPr>
            <p:ph type="dt" sz="half" idx="10"/>
          </p:nvPr>
        </p:nvSpPr>
        <p:spPr/>
        <p:txBody>
          <a:bodyPr/>
          <a:lstStyle/>
          <a:p>
            <a:fld id="{82B1C2C3-D437-4CB5-914C-06113AC135BA}" type="datetimeFigureOut">
              <a:rPr lang="en-US" smtClean="0"/>
              <a:t>1/21/2026</a:t>
            </a:fld>
            <a:endParaRPr lang="en-US"/>
          </a:p>
        </p:txBody>
      </p:sp>
      <p:sp>
        <p:nvSpPr>
          <p:cNvPr id="5" name="Footer Placeholder 4">
            <a:extLst>
              <a:ext uri="{FF2B5EF4-FFF2-40B4-BE49-F238E27FC236}">
                <a16:creationId xmlns:a16="http://schemas.microsoft.com/office/drawing/2014/main" id="{7A1E72D6-136F-41D9-B9DB-FCE1910DB5D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EC8E086-509C-990E-9A79-8BF0577AD221}"/>
              </a:ext>
            </a:extLst>
          </p:cNvPr>
          <p:cNvSpPr>
            <a:spLocks noGrp="1"/>
          </p:cNvSpPr>
          <p:nvPr>
            <p:ph type="sldNum" sz="quarter" idx="12"/>
          </p:nvPr>
        </p:nvSpPr>
        <p:spPr/>
        <p:txBody>
          <a:bodyPr/>
          <a:lstStyle/>
          <a:p>
            <a:fld id="{CB98862C-60D9-4F89-B777-7F7E7DA842C3}" type="slidenum">
              <a:rPr lang="en-US" smtClean="0"/>
              <a:t>‹#›</a:t>
            </a:fld>
            <a:endParaRPr lang="en-US"/>
          </a:p>
        </p:txBody>
      </p:sp>
    </p:spTree>
    <p:extLst>
      <p:ext uri="{BB962C8B-B14F-4D97-AF65-F5344CB8AC3E}">
        <p14:creationId xmlns:p14="http://schemas.microsoft.com/office/powerpoint/2010/main" val="23693766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93122-2CA2-6ABA-212F-581A31120DB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BB00954-68FB-BC81-D773-3E57F1E7501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251B869-C022-7234-5B8D-10D53236F9D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9002FC9-79C7-2675-3333-3A9D87F6B2E0}"/>
              </a:ext>
            </a:extLst>
          </p:cNvPr>
          <p:cNvSpPr>
            <a:spLocks noGrp="1"/>
          </p:cNvSpPr>
          <p:nvPr>
            <p:ph type="dt" sz="half" idx="10"/>
          </p:nvPr>
        </p:nvSpPr>
        <p:spPr/>
        <p:txBody>
          <a:bodyPr/>
          <a:lstStyle/>
          <a:p>
            <a:fld id="{82B1C2C3-D437-4CB5-914C-06113AC135BA}" type="datetimeFigureOut">
              <a:rPr lang="en-US" smtClean="0"/>
              <a:t>1/21/2026</a:t>
            </a:fld>
            <a:endParaRPr lang="en-US"/>
          </a:p>
        </p:txBody>
      </p:sp>
      <p:sp>
        <p:nvSpPr>
          <p:cNvPr id="6" name="Footer Placeholder 5">
            <a:extLst>
              <a:ext uri="{FF2B5EF4-FFF2-40B4-BE49-F238E27FC236}">
                <a16:creationId xmlns:a16="http://schemas.microsoft.com/office/drawing/2014/main" id="{D9A74CAD-02B5-61B4-8BA3-6159A9182FA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3619FD-17FA-EF54-AD6B-020E70B579A3}"/>
              </a:ext>
            </a:extLst>
          </p:cNvPr>
          <p:cNvSpPr>
            <a:spLocks noGrp="1"/>
          </p:cNvSpPr>
          <p:nvPr>
            <p:ph type="sldNum" sz="quarter" idx="12"/>
          </p:nvPr>
        </p:nvSpPr>
        <p:spPr/>
        <p:txBody>
          <a:bodyPr/>
          <a:lstStyle/>
          <a:p>
            <a:fld id="{CB98862C-60D9-4F89-B777-7F7E7DA842C3}" type="slidenum">
              <a:rPr lang="en-US" smtClean="0"/>
              <a:t>‹#›</a:t>
            </a:fld>
            <a:endParaRPr lang="en-US"/>
          </a:p>
        </p:txBody>
      </p:sp>
    </p:spTree>
    <p:extLst>
      <p:ext uri="{BB962C8B-B14F-4D97-AF65-F5344CB8AC3E}">
        <p14:creationId xmlns:p14="http://schemas.microsoft.com/office/powerpoint/2010/main" val="22384548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ED7C6-8C72-6134-D774-057F8FE1EB3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6F7260B-D3D6-80DF-3587-28D166D1A7F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045B344-B8F9-D0B8-0B05-94614880C41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BF078A3-CAA5-263C-511A-9C8FE8F834D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C893323-7FA5-787C-EFF8-F34C073893C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1D9BCC0-1EF6-76EC-B4C0-F88C5D62D246}"/>
              </a:ext>
            </a:extLst>
          </p:cNvPr>
          <p:cNvSpPr>
            <a:spLocks noGrp="1"/>
          </p:cNvSpPr>
          <p:nvPr>
            <p:ph type="dt" sz="half" idx="10"/>
          </p:nvPr>
        </p:nvSpPr>
        <p:spPr/>
        <p:txBody>
          <a:bodyPr/>
          <a:lstStyle/>
          <a:p>
            <a:fld id="{82B1C2C3-D437-4CB5-914C-06113AC135BA}" type="datetimeFigureOut">
              <a:rPr lang="en-US" smtClean="0"/>
              <a:t>1/21/2026</a:t>
            </a:fld>
            <a:endParaRPr lang="en-US"/>
          </a:p>
        </p:txBody>
      </p:sp>
      <p:sp>
        <p:nvSpPr>
          <p:cNvPr id="8" name="Footer Placeholder 7">
            <a:extLst>
              <a:ext uri="{FF2B5EF4-FFF2-40B4-BE49-F238E27FC236}">
                <a16:creationId xmlns:a16="http://schemas.microsoft.com/office/drawing/2014/main" id="{76485C53-5295-F6A0-47F8-EE044B97F48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E7F06E5-1384-37F6-7DEB-2FD8EC932DAC}"/>
              </a:ext>
            </a:extLst>
          </p:cNvPr>
          <p:cNvSpPr>
            <a:spLocks noGrp="1"/>
          </p:cNvSpPr>
          <p:nvPr>
            <p:ph type="sldNum" sz="quarter" idx="12"/>
          </p:nvPr>
        </p:nvSpPr>
        <p:spPr/>
        <p:txBody>
          <a:bodyPr/>
          <a:lstStyle/>
          <a:p>
            <a:fld id="{CB98862C-60D9-4F89-B777-7F7E7DA842C3}" type="slidenum">
              <a:rPr lang="en-US" smtClean="0"/>
              <a:t>‹#›</a:t>
            </a:fld>
            <a:endParaRPr lang="en-US"/>
          </a:p>
        </p:txBody>
      </p:sp>
    </p:spTree>
    <p:extLst>
      <p:ext uri="{BB962C8B-B14F-4D97-AF65-F5344CB8AC3E}">
        <p14:creationId xmlns:p14="http://schemas.microsoft.com/office/powerpoint/2010/main" val="3349720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34BB3-DDBA-00EE-6704-7942C1FC411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EC4BCB7-A8BB-AEEF-02EF-7891C956486E}"/>
              </a:ext>
            </a:extLst>
          </p:cNvPr>
          <p:cNvSpPr>
            <a:spLocks noGrp="1"/>
          </p:cNvSpPr>
          <p:nvPr>
            <p:ph type="dt" sz="half" idx="10"/>
          </p:nvPr>
        </p:nvSpPr>
        <p:spPr/>
        <p:txBody>
          <a:bodyPr/>
          <a:lstStyle/>
          <a:p>
            <a:fld id="{82B1C2C3-D437-4CB5-914C-06113AC135BA}" type="datetimeFigureOut">
              <a:rPr lang="en-US" smtClean="0"/>
              <a:t>1/21/2026</a:t>
            </a:fld>
            <a:endParaRPr lang="en-US"/>
          </a:p>
        </p:txBody>
      </p:sp>
      <p:sp>
        <p:nvSpPr>
          <p:cNvPr id="4" name="Footer Placeholder 3">
            <a:extLst>
              <a:ext uri="{FF2B5EF4-FFF2-40B4-BE49-F238E27FC236}">
                <a16:creationId xmlns:a16="http://schemas.microsoft.com/office/drawing/2014/main" id="{6E69BF47-AC4C-6730-8B4F-BA89F3A9FC0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781722D-F49D-3EE4-E0BA-00BDF74AAB1A}"/>
              </a:ext>
            </a:extLst>
          </p:cNvPr>
          <p:cNvSpPr>
            <a:spLocks noGrp="1"/>
          </p:cNvSpPr>
          <p:nvPr>
            <p:ph type="sldNum" sz="quarter" idx="12"/>
          </p:nvPr>
        </p:nvSpPr>
        <p:spPr/>
        <p:txBody>
          <a:bodyPr/>
          <a:lstStyle/>
          <a:p>
            <a:fld id="{CB98862C-60D9-4F89-B777-7F7E7DA842C3}" type="slidenum">
              <a:rPr lang="en-US" smtClean="0"/>
              <a:t>‹#›</a:t>
            </a:fld>
            <a:endParaRPr lang="en-US"/>
          </a:p>
        </p:txBody>
      </p:sp>
    </p:spTree>
    <p:extLst>
      <p:ext uri="{BB962C8B-B14F-4D97-AF65-F5344CB8AC3E}">
        <p14:creationId xmlns:p14="http://schemas.microsoft.com/office/powerpoint/2010/main" val="30629225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23A7655-610E-B88C-E976-63CF89850E58}"/>
              </a:ext>
            </a:extLst>
          </p:cNvPr>
          <p:cNvSpPr>
            <a:spLocks noGrp="1"/>
          </p:cNvSpPr>
          <p:nvPr>
            <p:ph type="dt" sz="half" idx="10"/>
          </p:nvPr>
        </p:nvSpPr>
        <p:spPr/>
        <p:txBody>
          <a:bodyPr/>
          <a:lstStyle/>
          <a:p>
            <a:fld id="{82B1C2C3-D437-4CB5-914C-06113AC135BA}" type="datetimeFigureOut">
              <a:rPr lang="en-US" smtClean="0"/>
              <a:t>1/21/2026</a:t>
            </a:fld>
            <a:endParaRPr lang="en-US"/>
          </a:p>
        </p:txBody>
      </p:sp>
      <p:sp>
        <p:nvSpPr>
          <p:cNvPr id="3" name="Footer Placeholder 2">
            <a:extLst>
              <a:ext uri="{FF2B5EF4-FFF2-40B4-BE49-F238E27FC236}">
                <a16:creationId xmlns:a16="http://schemas.microsoft.com/office/drawing/2014/main" id="{139728E0-54AB-81D0-9CF9-7488FFAC237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AEB04B0-8E00-EB28-CCD3-F092EA0F9E91}"/>
              </a:ext>
            </a:extLst>
          </p:cNvPr>
          <p:cNvSpPr>
            <a:spLocks noGrp="1"/>
          </p:cNvSpPr>
          <p:nvPr>
            <p:ph type="sldNum" sz="quarter" idx="12"/>
          </p:nvPr>
        </p:nvSpPr>
        <p:spPr/>
        <p:txBody>
          <a:bodyPr/>
          <a:lstStyle/>
          <a:p>
            <a:fld id="{CB98862C-60D9-4F89-B777-7F7E7DA842C3}" type="slidenum">
              <a:rPr lang="en-US" smtClean="0"/>
              <a:t>‹#›</a:t>
            </a:fld>
            <a:endParaRPr lang="en-US"/>
          </a:p>
        </p:txBody>
      </p:sp>
    </p:spTree>
    <p:extLst>
      <p:ext uri="{BB962C8B-B14F-4D97-AF65-F5344CB8AC3E}">
        <p14:creationId xmlns:p14="http://schemas.microsoft.com/office/powerpoint/2010/main" val="25215179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BED26-671D-272E-AA86-4D9AFB3F6B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07ACB2F-9DA7-B8F4-9583-3BDA698C9A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21AAF84-EBA5-EDDC-094D-F941452ADF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63C823C-F555-4C57-C480-A16330103706}"/>
              </a:ext>
            </a:extLst>
          </p:cNvPr>
          <p:cNvSpPr>
            <a:spLocks noGrp="1"/>
          </p:cNvSpPr>
          <p:nvPr>
            <p:ph type="dt" sz="half" idx="10"/>
          </p:nvPr>
        </p:nvSpPr>
        <p:spPr/>
        <p:txBody>
          <a:bodyPr/>
          <a:lstStyle/>
          <a:p>
            <a:fld id="{82B1C2C3-D437-4CB5-914C-06113AC135BA}" type="datetimeFigureOut">
              <a:rPr lang="en-US" smtClean="0"/>
              <a:t>1/21/2026</a:t>
            </a:fld>
            <a:endParaRPr lang="en-US"/>
          </a:p>
        </p:txBody>
      </p:sp>
      <p:sp>
        <p:nvSpPr>
          <p:cNvPr id="6" name="Footer Placeholder 5">
            <a:extLst>
              <a:ext uri="{FF2B5EF4-FFF2-40B4-BE49-F238E27FC236}">
                <a16:creationId xmlns:a16="http://schemas.microsoft.com/office/drawing/2014/main" id="{7375AF29-8732-4118-15BA-EB6819A88FA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A232895-F629-A770-59CB-019D0799048F}"/>
              </a:ext>
            </a:extLst>
          </p:cNvPr>
          <p:cNvSpPr>
            <a:spLocks noGrp="1"/>
          </p:cNvSpPr>
          <p:nvPr>
            <p:ph type="sldNum" sz="quarter" idx="12"/>
          </p:nvPr>
        </p:nvSpPr>
        <p:spPr/>
        <p:txBody>
          <a:bodyPr/>
          <a:lstStyle/>
          <a:p>
            <a:fld id="{CB98862C-60D9-4F89-B777-7F7E7DA842C3}" type="slidenum">
              <a:rPr lang="en-US" smtClean="0"/>
              <a:t>‹#›</a:t>
            </a:fld>
            <a:endParaRPr lang="en-US"/>
          </a:p>
        </p:txBody>
      </p:sp>
    </p:spTree>
    <p:extLst>
      <p:ext uri="{BB962C8B-B14F-4D97-AF65-F5344CB8AC3E}">
        <p14:creationId xmlns:p14="http://schemas.microsoft.com/office/powerpoint/2010/main" val="20315236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B05B1D-3EC5-C1D3-86D9-CBE73ABA8C7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69FD50D-A2D1-D8CF-E62A-544B69DBC9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FB3815A-1ECD-BF47-8AFD-676E65DEA8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B22AB30-D5C6-E037-4A43-583D09111F69}"/>
              </a:ext>
            </a:extLst>
          </p:cNvPr>
          <p:cNvSpPr>
            <a:spLocks noGrp="1"/>
          </p:cNvSpPr>
          <p:nvPr>
            <p:ph type="dt" sz="half" idx="10"/>
          </p:nvPr>
        </p:nvSpPr>
        <p:spPr/>
        <p:txBody>
          <a:bodyPr/>
          <a:lstStyle/>
          <a:p>
            <a:fld id="{82B1C2C3-D437-4CB5-914C-06113AC135BA}" type="datetimeFigureOut">
              <a:rPr lang="en-US" smtClean="0"/>
              <a:t>1/21/2026</a:t>
            </a:fld>
            <a:endParaRPr lang="en-US"/>
          </a:p>
        </p:txBody>
      </p:sp>
      <p:sp>
        <p:nvSpPr>
          <p:cNvPr id="6" name="Footer Placeholder 5">
            <a:extLst>
              <a:ext uri="{FF2B5EF4-FFF2-40B4-BE49-F238E27FC236}">
                <a16:creationId xmlns:a16="http://schemas.microsoft.com/office/drawing/2014/main" id="{9DE059D8-393D-9269-8F72-F4D762FD48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366C2B6-853A-5E13-792D-6FCE04307FEC}"/>
              </a:ext>
            </a:extLst>
          </p:cNvPr>
          <p:cNvSpPr>
            <a:spLocks noGrp="1"/>
          </p:cNvSpPr>
          <p:nvPr>
            <p:ph type="sldNum" sz="quarter" idx="12"/>
          </p:nvPr>
        </p:nvSpPr>
        <p:spPr/>
        <p:txBody>
          <a:bodyPr/>
          <a:lstStyle/>
          <a:p>
            <a:fld id="{CB98862C-60D9-4F89-B777-7F7E7DA842C3}" type="slidenum">
              <a:rPr lang="en-US" smtClean="0"/>
              <a:t>‹#›</a:t>
            </a:fld>
            <a:endParaRPr lang="en-US"/>
          </a:p>
        </p:txBody>
      </p:sp>
    </p:spTree>
    <p:extLst>
      <p:ext uri="{BB962C8B-B14F-4D97-AF65-F5344CB8AC3E}">
        <p14:creationId xmlns:p14="http://schemas.microsoft.com/office/powerpoint/2010/main" val="1052236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6EA68-9D92-5460-8CB8-877D8226086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356B5ED-97FC-0B04-D739-51473EDC82E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3C1328-5A1F-9765-2945-33118F55BC0D}"/>
              </a:ext>
            </a:extLst>
          </p:cNvPr>
          <p:cNvSpPr>
            <a:spLocks noGrp="1"/>
          </p:cNvSpPr>
          <p:nvPr>
            <p:ph type="dt" sz="half" idx="10"/>
          </p:nvPr>
        </p:nvSpPr>
        <p:spPr/>
        <p:txBody>
          <a:bodyPr/>
          <a:lstStyle/>
          <a:p>
            <a:fld id="{82B1C2C3-D437-4CB5-914C-06113AC135BA}" type="datetimeFigureOut">
              <a:rPr lang="en-US" smtClean="0"/>
              <a:t>1/21/2026</a:t>
            </a:fld>
            <a:endParaRPr lang="en-US"/>
          </a:p>
        </p:txBody>
      </p:sp>
      <p:sp>
        <p:nvSpPr>
          <p:cNvPr id="5" name="Footer Placeholder 4">
            <a:extLst>
              <a:ext uri="{FF2B5EF4-FFF2-40B4-BE49-F238E27FC236}">
                <a16:creationId xmlns:a16="http://schemas.microsoft.com/office/drawing/2014/main" id="{64B3B48D-E0D5-8690-FA67-E5F5D50B22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5BA210-CBBA-DF7E-094F-E947A61EF274}"/>
              </a:ext>
            </a:extLst>
          </p:cNvPr>
          <p:cNvSpPr>
            <a:spLocks noGrp="1"/>
          </p:cNvSpPr>
          <p:nvPr>
            <p:ph type="sldNum" sz="quarter" idx="12"/>
          </p:nvPr>
        </p:nvSpPr>
        <p:spPr/>
        <p:txBody>
          <a:bodyPr/>
          <a:lstStyle/>
          <a:p>
            <a:fld id="{CB98862C-60D9-4F89-B777-7F7E7DA842C3}" type="slidenum">
              <a:rPr lang="en-US" smtClean="0"/>
              <a:t>‹#›</a:t>
            </a:fld>
            <a:endParaRPr lang="en-US"/>
          </a:p>
        </p:txBody>
      </p:sp>
    </p:spTree>
    <p:extLst>
      <p:ext uri="{BB962C8B-B14F-4D97-AF65-F5344CB8AC3E}">
        <p14:creationId xmlns:p14="http://schemas.microsoft.com/office/powerpoint/2010/main" val="6789802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2C6AE7-DF3B-B26B-A8C2-5FCA2B3BF6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1B61CD-9425-24B4-BADB-5488040569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58A9BEB-72F1-1BFA-5986-B6A769F8C89F}"/>
              </a:ext>
            </a:extLst>
          </p:cNvPr>
          <p:cNvSpPr>
            <a:spLocks noGrp="1"/>
          </p:cNvSpPr>
          <p:nvPr>
            <p:ph type="dt" sz="half" idx="10"/>
          </p:nvPr>
        </p:nvSpPr>
        <p:spPr/>
        <p:txBody>
          <a:bodyPr/>
          <a:lstStyle/>
          <a:p>
            <a:fld id="{82B1C2C3-D437-4CB5-914C-06113AC135BA}" type="datetimeFigureOut">
              <a:rPr lang="en-US" smtClean="0"/>
              <a:t>1/21/2026</a:t>
            </a:fld>
            <a:endParaRPr lang="en-US"/>
          </a:p>
        </p:txBody>
      </p:sp>
      <p:sp>
        <p:nvSpPr>
          <p:cNvPr id="5" name="Footer Placeholder 4">
            <a:extLst>
              <a:ext uri="{FF2B5EF4-FFF2-40B4-BE49-F238E27FC236}">
                <a16:creationId xmlns:a16="http://schemas.microsoft.com/office/drawing/2014/main" id="{218C5001-B835-1714-6312-711763F94F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C472AF-1618-4117-8310-0D411A2860AE}"/>
              </a:ext>
            </a:extLst>
          </p:cNvPr>
          <p:cNvSpPr>
            <a:spLocks noGrp="1"/>
          </p:cNvSpPr>
          <p:nvPr>
            <p:ph type="sldNum" sz="quarter" idx="12"/>
          </p:nvPr>
        </p:nvSpPr>
        <p:spPr/>
        <p:txBody>
          <a:bodyPr/>
          <a:lstStyle/>
          <a:p>
            <a:fld id="{CB98862C-60D9-4F89-B777-7F7E7DA842C3}" type="slidenum">
              <a:rPr lang="en-US" smtClean="0"/>
              <a:t>‹#›</a:t>
            </a:fld>
            <a:endParaRPr lang="en-US"/>
          </a:p>
        </p:txBody>
      </p:sp>
    </p:spTree>
    <p:extLst>
      <p:ext uri="{BB962C8B-B14F-4D97-AF65-F5344CB8AC3E}">
        <p14:creationId xmlns:p14="http://schemas.microsoft.com/office/powerpoint/2010/main" val="31534564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1974BA9-8D09-4F55-B036-7528C4CE609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05D805-BBDF-32AA-3358-4B98B58FA6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75C215-BA26-3506-EE23-5160A452DD6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B1C2C3-D437-4CB5-914C-06113AC135BA}" type="datetimeFigureOut">
              <a:rPr lang="en-US" smtClean="0"/>
              <a:t>1/21/2026</a:t>
            </a:fld>
            <a:endParaRPr lang="en-US"/>
          </a:p>
        </p:txBody>
      </p:sp>
      <p:sp>
        <p:nvSpPr>
          <p:cNvPr id="5" name="Footer Placeholder 4">
            <a:extLst>
              <a:ext uri="{FF2B5EF4-FFF2-40B4-BE49-F238E27FC236}">
                <a16:creationId xmlns:a16="http://schemas.microsoft.com/office/drawing/2014/main" id="{E86A3C0D-F5D3-8B83-7CE1-012B45638A4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A26E66D-745C-9FAA-A9BF-2FA29E0EDCE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98862C-60D9-4F89-B777-7F7E7DA842C3}" type="slidenum">
              <a:rPr lang="en-US" smtClean="0"/>
              <a:t>‹#›</a:t>
            </a:fld>
            <a:endParaRPr lang="en-US"/>
          </a:p>
        </p:txBody>
      </p:sp>
    </p:spTree>
    <p:extLst>
      <p:ext uri="{BB962C8B-B14F-4D97-AF65-F5344CB8AC3E}">
        <p14:creationId xmlns:p14="http://schemas.microsoft.com/office/powerpoint/2010/main" val="28108148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6F493B-3D3D-0AB7-8573-E791A9E246B6}"/>
              </a:ext>
            </a:extLst>
          </p:cNvPr>
          <p:cNvSpPr>
            <a:spLocks noGrp="1"/>
          </p:cNvSpPr>
          <p:nvPr>
            <p:ph type="ctrTitle"/>
          </p:nvPr>
        </p:nvSpPr>
        <p:spPr/>
        <p:txBody>
          <a:bodyPr/>
          <a:lstStyle/>
          <a:p>
            <a:r>
              <a:rPr lang="en-US" dirty="0"/>
              <a:t>Chat Healthy	</a:t>
            </a:r>
          </a:p>
        </p:txBody>
      </p:sp>
      <p:sp>
        <p:nvSpPr>
          <p:cNvPr id="3" name="Subtitle 2">
            <a:extLst>
              <a:ext uri="{FF2B5EF4-FFF2-40B4-BE49-F238E27FC236}">
                <a16:creationId xmlns:a16="http://schemas.microsoft.com/office/drawing/2014/main" id="{C04DD1E0-AAE0-588B-2D95-6618B63A2AD5}"/>
              </a:ext>
            </a:extLst>
          </p:cNvPr>
          <p:cNvSpPr>
            <a:spLocks noGrp="1"/>
          </p:cNvSpPr>
          <p:nvPr>
            <p:ph type="subTitle" idx="1"/>
          </p:nvPr>
        </p:nvSpPr>
        <p:spPr/>
        <p:txBody>
          <a:bodyPr/>
          <a:lstStyle/>
          <a:p>
            <a:r>
              <a:rPr lang="en-US" dirty="0"/>
              <a:t>Phase 1 architecture:</a:t>
            </a:r>
          </a:p>
          <a:p>
            <a:r>
              <a:rPr lang="en-US" dirty="0"/>
              <a:t>Project for LLM engineering course. </a:t>
            </a:r>
          </a:p>
        </p:txBody>
      </p:sp>
    </p:spTree>
    <p:extLst>
      <p:ext uri="{BB962C8B-B14F-4D97-AF65-F5344CB8AC3E}">
        <p14:creationId xmlns:p14="http://schemas.microsoft.com/office/powerpoint/2010/main" val="25458443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9C5E5-C67A-BC61-A0CC-952D05681612}"/>
              </a:ext>
            </a:extLst>
          </p:cNvPr>
          <p:cNvSpPr>
            <a:spLocks noGrp="1"/>
          </p:cNvSpPr>
          <p:nvPr>
            <p:ph type="title"/>
          </p:nvPr>
        </p:nvSpPr>
        <p:spPr/>
        <p:txBody>
          <a:bodyPr/>
          <a:lstStyle/>
          <a:p>
            <a:r>
              <a:rPr lang="en-US" dirty="0"/>
              <a:t>Overview</a:t>
            </a:r>
          </a:p>
        </p:txBody>
      </p:sp>
      <p:sp>
        <p:nvSpPr>
          <p:cNvPr id="3" name="Content Placeholder 2">
            <a:extLst>
              <a:ext uri="{FF2B5EF4-FFF2-40B4-BE49-F238E27FC236}">
                <a16:creationId xmlns:a16="http://schemas.microsoft.com/office/drawing/2014/main" id="{5DA7233E-1F99-2285-EC5C-6DFBDC4192AB}"/>
              </a:ext>
            </a:extLst>
          </p:cNvPr>
          <p:cNvSpPr>
            <a:spLocks noGrp="1"/>
          </p:cNvSpPr>
          <p:nvPr>
            <p:ph idx="1"/>
          </p:nvPr>
        </p:nvSpPr>
        <p:spPr>
          <a:xfrm>
            <a:off x="725466" y="1253331"/>
            <a:ext cx="10515600" cy="4351338"/>
          </a:xfrm>
        </p:spPr>
        <p:txBody>
          <a:bodyPr>
            <a:normAutofit fontScale="70000" lnSpcReduction="20000"/>
          </a:bodyPr>
          <a:lstStyle/>
          <a:p>
            <a:r>
              <a:rPr lang="en-US" dirty="0"/>
              <a:t>This project evaluates and tries to find the best model with the best augmentation via QLoRA and or Rag to predict how many specialists work in any one county. </a:t>
            </a:r>
          </a:p>
          <a:p>
            <a:pPr lvl="1"/>
            <a:r>
              <a:rPr lang="en-US" dirty="0"/>
              <a:t>A data pipeline will be built</a:t>
            </a:r>
          </a:p>
          <a:p>
            <a:pPr lvl="2"/>
            <a:r>
              <a:rPr lang="en-US" dirty="0"/>
              <a:t>Provider data</a:t>
            </a:r>
          </a:p>
          <a:p>
            <a:pPr lvl="2"/>
            <a:r>
              <a:rPr lang="en-US" dirty="0"/>
              <a:t>County Zip Mapping</a:t>
            </a:r>
          </a:p>
          <a:p>
            <a:pPr lvl="2"/>
            <a:r>
              <a:rPr lang="en-US" dirty="0"/>
              <a:t>County GDP added to County Specialist Zip Map</a:t>
            </a:r>
          </a:p>
          <a:p>
            <a:pPr lvl="2"/>
            <a:r>
              <a:rPr lang="en-US" dirty="0" err="1"/>
              <a:t>Coutny</a:t>
            </a:r>
            <a:r>
              <a:rPr lang="en-US" dirty="0"/>
              <a:t> Population bands will be added to County specialist zip map.</a:t>
            </a:r>
          </a:p>
          <a:p>
            <a:pPr lvl="2"/>
            <a:r>
              <a:rPr lang="en-US" dirty="0"/>
              <a:t>Number of docs per specialty will be added to County Specialist Zip Map</a:t>
            </a:r>
          </a:p>
          <a:p>
            <a:pPr lvl="2"/>
            <a:r>
              <a:rPr lang="en-US" dirty="0"/>
              <a:t>Specialist descriptions will be an entity for training for </a:t>
            </a:r>
            <a:r>
              <a:rPr lang="en-US" dirty="0" err="1"/>
              <a:t>Qlaura</a:t>
            </a:r>
            <a:r>
              <a:rPr lang="en-US" dirty="0"/>
              <a:t>. </a:t>
            </a:r>
          </a:p>
          <a:p>
            <a:pPr lvl="1"/>
            <a:r>
              <a:rPr lang="en-US" dirty="0"/>
              <a:t>The experiments will add to the data set’s features and continue to search for the best answer to natural language interrogation to figure out what humans will ask of the model and steering them in the right direction. </a:t>
            </a:r>
          </a:p>
          <a:p>
            <a:pPr lvl="1"/>
            <a:r>
              <a:rPr lang="en-US" dirty="0"/>
              <a:t>All frontier models will be asked 1000 test questions with definitive quantitative answers. </a:t>
            </a:r>
          </a:p>
          <a:p>
            <a:pPr lvl="2"/>
            <a:r>
              <a:rPr lang="en-US" dirty="0"/>
              <a:t>Their answers will be compared. </a:t>
            </a:r>
          </a:p>
          <a:p>
            <a:pPr lvl="1"/>
            <a:r>
              <a:rPr lang="en-US" dirty="0" err="1"/>
              <a:t>Olama</a:t>
            </a:r>
            <a:r>
              <a:rPr lang="en-US" dirty="0"/>
              <a:t> will be enhanced with QLoRA</a:t>
            </a:r>
          </a:p>
          <a:p>
            <a:pPr lvl="2"/>
            <a:r>
              <a:rPr lang="en-US" dirty="0"/>
              <a:t>Three rounds of training will be done. </a:t>
            </a:r>
          </a:p>
          <a:p>
            <a:pPr lvl="1"/>
            <a:r>
              <a:rPr lang="en-US" dirty="0"/>
              <a:t>New dimension will be added to the </a:t>
            </a:r>
          </a:p>
          <a:p>
            <a:pPr lvl="1"/>
            <a:r>
              <a:rPr lang="en-US" dirty="0"/>
              <a:t>All frontier models will be retested with the new data</a:t>
            </a:r>
          </a:p>
          <a:p>
            <a:pPr lvl="1"/>
            <a:r>
              <a:rPr lang="en-US" dirty="0"/>
              <a:t>All models will be augmented via RAG and the </a:t>
            </a:r>
            <a:r>
              <a:rPr lang="en-US" dirty="0" err="1"/>
              <a:t>vecorized</a:t>
            </a:r>
            <a:r>
              <a:rPr lang="en-US" dirty="0"/>
              <a:t> data near the answer to the question. </a:t>
            </a:r>
          </a:p>
          <a:p>
            <a:pPr lvl="1"/>
            <a:endParaRPr lang="en-US" dirty="0"/>
          </a:p>
          <a:p>
            <a:pPr lvl="1"/>
            <a:endParaRPr lang="en-US" dirty="0"/>
          </a:p>
          <a:p>
            <a:pPr lvl="1"/>
            <a:endParaRPr lang="en-US" dirty="0"/>
          </a:p>
          <a:p>
            <a:endParaRPr lang="en-US" dirty="0"/>
          </a:p>
        </p:txBody>
      </p:sp>
      <p:sp>
        <p:nvSpPr>
          <p:cNvPr id="4" name="TextBox 3">
            <a:extLst>
              <a:ext uri="{FF2B5EF4-FFF2-40B4-BE49-F238E27FC236}">
                <a16:creationId xmlns:a16="http://schemas.microsoft.com/office/drawing/2014/main" id="{CFA0ADAF-CAF4-3508-2482-C1AD9EEA37A0}"/>
              </a:ext>
            </a:extLst>
          </p:cNvPr>
          <p:cNvSpPr txBox="1"/>
          <p:nvPr/>
        </p:nvSpPr>
        <p:spPr>
          <a:xfrm>
            <a:off x="200416" y="6396335"/>
            <a:ext cx="7992649" cy="461665"/>
          </a:xfrm>
          <a:prstGeom prst="rect">
            <a:avLst/>
          </a:prstGeom>
          <a:noFill/>
        </p:spPr>
        <p:txBody>
          <a:bodyPr wrap="square" rtlCol="0">
            <a:spAutoFit/>
          </a:bodyPr>
          <a:lstStyle/>
          <a:p>
            <a:r>
              <a:rPr lang="en-US" sz="1200" dirty="0"/>
              <a:t>1: I will take the Agentic course next and incorporate agentic aspects to the project and UX within the context of that course</a:t>
            </a:r>
          </a:p>
        </p:txBody>
      </p:sp>
    </p:spTree>
    <p:extLst>
      <p:ext uri="{BB962C8B-B14F-4D97-AF65-F5344CB8AC3E}">
        <p14:creationId xmlns:p14="http://schemas.microsoft.com/office/powerpoint/2010/main" val="8696209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B9C94-8FF7-E02B-FE6A-29B8BD9B598F}"/>
              </a:ext>
            </a:extLst>
          </p:cNvPr>
          <p:cNvSpPr>
            <a:spLocks noGrp="1"/>
          </p:cNvSpPr>
          <p:nvPr>
            <p:ph type="title"/>
          </p:nvPr>
        </p:nvSpPr>
        <p:spPr/>
        <p:txBody>
          <a:bodyPr/>
          <a:lstStyle/>
          <a:p>
            <a:r>
              <a:rPr lang="en-US" dirty="0"/>
              <a:t>Core model for interrogation</a:t>
            </a:r>
          </a:p>
        </p:txBody>
      </p:sp>
      <p:grpSp>
        <p:nvGrpSpPr>
          <p:cNvPr id="8" name="Group 7">
            <a:extLst>
              <a:ext uri="{FF2B5EF4-FFF2-40B4-BE49-F238E27FC236}">
                <a16:creationId xmlns:a16="http://schemas.microsoft.com/office/drawing/2014/main" id="{2D00531B-936D-4FB0-A06B-1E1F90B6159D}"/>
              </a:ext>
            </a:extLst>
          </p:cNvPr>
          <p:cNvGrpSpPr/>
          <p:nvPr/>
        </p:nvGrpSpPr>
        <p:grpSpPr>
          <a:xfrm>
            <a:off x="1014608" y="1690688"/>
            <a:ext cx="1678488" cy="1628709"/>
            <a:chOff x="1014608" y="1690688"/>
            <a:chExt cx="1678488" cy="1628709"/>
          </a:xfrm>
        </p:grpSpPr>
        <p:sp>
          <p:nvSpPr>
            <p:cNvPr id="6" name="Rectangle 5">
              <a:extLst>
                <a:ext uri="{FF2B5EF4-FFF2-40B4-BE49-F238E27FC236}">
                  <a16:creationId xmlns:a16="http://schemas.microsoft.com/office/drawing/2014/main" id="{D5ACC21A-E6EF-7DA0-7FF3-37BDD3B89E39}"/>
                </a:ext>
              </a:extLst>
            </p:cNvPr>
            <p:cNvSpPr/>
            <p:nvPr/>
          </p:nvSpPr>
          <p:spPr>
            <a:xfrm>
              <a:off x="1014608" y="1690688"/>
              <a:ext cx="1678488" cy="413685"/>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Specialty</a:t>
              </a:r>
            </a:p>
          </p:txBody>
        </p:sp>
        <p:sp>
          <p:nvSpPr>
            <p:cNvPr id="7" name="Rectangle 6">
              <a:extLst>
                <a:ext uri="{FF2B5EF4-FFF2-40B4-BE49-F238E27FC236}">
                  <a16:creationId xmlns:a16="http://schemas.microsoft.com/office/drawing/2014/main" id="{558D1BB3-2192-350C-C90C-4D8C2A5ECBBF}"/>
                </a:ext>
              </a:extLst>
            </p:cNvPr>
            <p:cNvSpPr/>
            <p:nvPr/>
          </p:nvSpPr>
          <p:spPr>
            <a:xfrm>
              <a:off x="1014608" y="2104373"/>
              <a:ext cx="1678488" cy="1215024"/>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b="1" dirty="0">
                  <a:solidFill>
                    <a:schemeClr val="tx1"/>
                  </a:solidFill>
                </a:rPr>
                <a:t>Code (PK)</a:t>
              </a:r>
            </a:p>
            <a:p>
              <a:r>
                <a:rPr lang="en-US" sz="1200" b="1" dirty="0">
                  <a:solidFill>
                    <a:schemeClr val="tx1"/>
                  </a:solidFill>
                </a:rPr>
                <a:t>Specialization </a:t>
              </a:r>
            </a:p>
            <a:p>
              <a:r>
                <a:rPr lang="en-US" sz="1200" b="1" dirty="0">
                  <a:solidFill>
                    <a:schemeClr val="tx1"/>
                  </a:solidFill>
                </a:rPr>
                <a:t>Classification</a:t>
              </a:r>
            </a:p>
            <a:p>
              <a:r>
                <a:rPr lang="en-US" sz="1200" b="1" dirty="0">
                  <a:solidFill>
                    <a:schemeClr val="tx1"/>
                  </a:solidFill>
                </a:rPr>
                <a:t>Grouping</a:t>
              </a:r>
            </a:p>
            <a:p>
              <a:r>
                <a:rPr lang="en-US" sz="1200" b="1" dirty="0">
                  <a:solidFill>
                    <a:schemeClr val="tx1"/>
                  </a:solidFill>
                </a:rPr>
                <a:t>Description </a:t>
              </a:r>
            </a:p>
            <a:p>
              <a:endParaRPr lang="en-US" sz="1200" b="1" dirty="0">
                <a:solidFill>
                  <a:schemeClr val="tx1"/>
                </a:solidFill>
              </a:endParaRPr>
            </a:p>
            <a:p>
              <a:endParaRPr lang="en-US" sz="1200" b="1" dirty="0">
                <a:solidFill>
                  <a:schemeClr val="tx1"/>
                </a:solidFill>
              </a:endParaRPr>
            </a:p>
            <a:p>
              <a:endParaRPr lang="en-US" sz="1200" b="1" dirty="0">
                <a:solidFill>
                  <a:schemeClr val="tx1"/>
                </a:solidFill>
              </a:endParaRPr>
            </a:p>
          </p:txBody>
        </p:sp>
      </p:grpSp>
      <p:grpSp>
        <p:nvGrpSpPr>
          <p:cNvPr id="18" name="Group 17">
            <a:extLst>
              <a:ext uri="{FF2B5EF4-FFF2-40B4-BE49-F238E27FC236}">
                <a16:creationId xmlns:a16="http://schemas.microsoft.com/office/drawing/2014/main" id="{0CDA9506-10C9-6D83-FBD9-298BC55E2520}"/>
              </a:ext>
            </a:extLst>
          </p:cNvPr>
          <p:cNvGrpSpPr/>
          <p:nvPr/>
        </p:nvGrpSpPr>
        <p:grpSpPr>
          <a:xfrm>
            <a:off x="4365218" y="1996219"/>
            <a:ext cx="1678488" cy="1080603"/>
            <a:chOff x="4207600" y="1690688"/>
            <a:chExt cx="1678488" cy="1080603"/>
          </a:xfrm>
        </p:grpSpPr>
        <p:sp>
          <p:nvSpPr>
            <p:cNvPr id="11" name="Rectangle 10">
              <a:extLst>
                <a:ext uri="{FF2B5EF4-FFF2-40B4-BE49-F238E27FC236}">
                  <a16:creationId xmlns:a16="http://schemas.microsoft.com/office/drawing/2014/main" id="{7C247C78-C0AD-6C9D-FAC3-4E2778A864BF}"/>
                </a:ext>
              </a:extLst>
            </p:cNvPr>
            <p:cNvSpPr/>
            <p:nvPr/>
          </p:nvSpPr>
          <p:spPr>
            <a:xfrm>
              <a:off x="4207600" y="1690688"/>
              <a:ext cx="1678488" cy="41368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Services</a:t>
              </a:r>
            </a:p>
          </p:txBody>
        </p:sp>
        <p:sp>
          <p:nvSpPr>
            <p:cNvPr id="12" name="Rectangle 11">
              <a:extLst>
                <a:ext uri="{FF2B5EF4-FFF2-40B4-BE49-F238E27FC236}">
                  <a16:creationId xmlns:a16="http://schemas.microsoft.com/office/drawing/2014/main" id="{9722205E-58DC-17E5-252B-B27CB0BB86EC}"/>
                </a:ext>
              </a:extLst>
            </p:cNvPr>
            <p:cNvSpPr/>
            <p:nvPr/>
          </p:nvSpPr>
          <p:spPr>
            <a:xfrm>
              <a:off x="4207600" y="2104373"/>
              <a:ext cx="1678488" cy="666918"/>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b="1" dirty="0">
                  <a:solidFill>
                    <a:schemeClr val="tx1"/>
                  </a:solidFill>
                </a:rPr>
                <a:t>Service name</a:t>
              </a:r>
            </a:p>
            <a:p>
              <a:r>
                <a:rPr lang="en-US" sz="1200" b="1" dirty="0">
                  <a:solidFill>
                    <a:schemeClr val="tx1"/>
                  </a:solidFill>
                </a:rPr>
                <a:t>Service Description</a:t>
              </a:r>
            </a:p>
            <a:p>
              <a:endParaRPr lang="en-US" sz="1200" b="1" dirty="0">
                <a:solidFill>
                  <a:schemeClr val="tx1"/>
                </a:solidFill>
              </a:endParaRPr>
            </a:p>
            <a:p>
              <a:endParaRPr lang="en-US" sz="1200" b="1" dirty="0">
                <a:solidFill>
                  <a:schemeClr val="tx1"/>
                </a:solidFill>
              </a:endParaRPr>
            </a:p>
          </p:txBody>
        </p:sp>
      </p:grpSp>
      <p:cxnSp>
        <p:nvCxnSpPr>
          <p:cNvPr id="14" name="Straight Arrow Connector 13">
            <a:extLst>
              <a:ext uri="{FF2B5EF4-FFF2-40B4-BE49-F238E27FC236}">
                <a16:creationId xmlns:a16="http://schemas.microsoft.com/office/drawing/2014/main" id="{48CB1425-3FD2-6817-E0B3-94474C6E4DD2}"/>
              </a:ext>
            </a:extLst>
          </p:cNvPr>
          <p:cNvCxnSpPr>
            <a:cxnSpLocks/>
            <a:stCxn id="7" idx="3"/>
            <a:endCxn id="12" idx="1"/>
          </p:cNvCxnSpPr>
          <p:nvPr/>
        </p:nvCxnSpPr>
        <p:spPr>
          <a:xfrm>
            <a:off x="2693096" y="2711885"/>
            <a:ext cx="1672122" cy="31478"/>
          </a:xfrm>
          <a:prstGeom prst="straightConnector1">
            <a:avLst/>
          </a:prstGeom>
          <a:ln>
            <a:tailEnd type="non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7A47C5B3-1A07-BC5D-32B4-8EAB53945D11}"/>
              </a:ext>
            </a:extLst>
          </p:cNvPr>
          <p:cNvSpPr txBox="1"/>
          <p:nvPr/>
        </p:nvSpPr>
        <p:spPr>
          <a:xfrm>
            <a:off x="3827744" y="2401959"/>
            <a:ext cx="517642" cy="369332"/>
          </a:xfrm>
          <a:prstGeom prst="rect">
            <a:avLst/>
          </a:prstGeom>
          <a:noFill/>
        </p:spPr>
        <p:txBody>
          <a:bodyPr wrap="none" rtlCol="0">
            <a:spAutoFit/>
          </a:bodyPr>
          <a:lstStyle/>
          <a:p>
            <a:r>
              <a:rPr lang="en-US" dirty="0"/>
              <a:t>1..*</a:t>
            </a:r>
          </a:p>
        </p:txBody>
      </p:sp>
      <p:sp>
        <p:nvSpPr>
          <p:cNvPr id="23" name="Rectangle 22">
            <a:extLst>
              <a:ext uri="{FF2B5EF4-FFF2-40B4-BE49-F238E27FC236}">
                <a16:creationId xmlns:a16="http://schemas.microsoft.com/office/drawing/2014/main" id="{A8A26EE9-982A-8D62-0B87-C4A392681900}"/>
              </a:ext>
            </a:extLst>
          </p:cNvPr>
          <p:cNvSpPr/>
          <p:nvPr/>
        </p:nvSpPr>
        <p:spPr>
          <a:xfrm>
            <a:off x="1129429" y="3673001"/>
            <a:ext cx="1678488" cy="413685"/>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b="1">
                <a:solidFill>
                  <a:schemeClr val="tx1"/>
                </a:solidFill>
              </a:rPr>
              <a:t>Provider</a:t>
            </a:r>
            <a:endParaRPr lang="en-US" b="1" dirty="0">
              <a:solidFill>
                <a:schemeClr val="tx1"/>
              </a:solidFill>
            </a:endParaRPr>
          </a:p>
        </p:txBody>
      </p:sp>
      <p:sp>
        <p:nvSpPr>
          <p:cNvPr id="24" name="Rectangle 23">
            <a:extLst>
              <a:ext uri="{FF2B5EF4-FFF2-40B4-BE49-F238E27FC236}">
                <a16:creationId xmlns:a16="http://schemas.microsoft.com/office/drawing/2014/main" id="{708D400A-BBB8-929A-2151-C5B0A083AED1}"/>
              </a:ext>
            </a:extLst>
          </p:cNvPr>
          <p:cNvSpPr/>
          <p:nvPr/>
        </p:nvSpPr>
        <p:spPr>
          <a:xfrm>
            <a:off x="1129429" y="4086686"/>
            <a:ext cx="1678488" cy="1215024"/>
          </a:xfrm>
          <a:prstGeom prst="rect">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b="1" dirty="0">
                <a:solidFill>
                  <a:schemeClr val="tx1"/>
                </a:solidFill>
              </a:rPr>
              <a:t>Code (PK)</a:t>
            </a:r>
          </a:p>
          <a:p>
            <a:r>
              <a:rPr lang="en-US" sz="1200" b="1" dirty="0">
                <a:solidFill>
                  <a:schemeClr val="tx1"/>
                </a:solidFill>
              </a:rPr>
              <a:t>Specialization </a:t>
            </a:r>
          </a:p>
          <a:p>
            <a:r>
              <a:rPr lang="en-US" sz="1200" b="1" dirty="0">
                <a:solidFill>
                  <a:schemeClr val="tx1"/>
                </a:solidFill>
              </a:rPr>
              <a:t>Classification</a:t>
            </a:r>
          </a:p>
          <a:p>
            <a:r>
              <a:rPr lang="en-US" sz="1200" b="1" dirty="0">
                <a:solidFill>
                  <a:schemeClr val="tx1"/>
                </a:solidFill>
              </a:rPr>
              <a:t>Grouping</a:t>
            </a:r>
          </a:p>
          <a:p>
            <a:r>
              <a:rPr lang="en-US" sz="1200" b="1" dirty="0">
                <a:solidFill>
                  <a:schemeClr val="tx1"/>
                </a:solidFill>
              </a:rPr>
              <a:t>Description </a:t>
            </a:r>
          </a:p>
          <a:p>
            <a:endParaRPr lang="en-US" sz="1200" b="1" dirty="0">
              <a:solidFill>
                <a:schemeClr val="tx1"/>
              </a:solidFill>
            </a:endParaRPr>
          </a:p>
          <a:p>
            <a:endParaRPr lang="en-US" sz="1200" b="1" dirty="0">
              <a:solidFill>
                <a:schemeClr val="tx1"/>
              </a:solidFill>
            </a:endParaRPr>
          </a:p>
          <a:p>
            <a:endParaRPr lang="en-US" sz="1200" b="1" dirty="0">
              <a:solidFill>
                <a:schemeClr val="tx1"/>
              </a:solidFill>
            </a:endParaRPr>
          </a:p>
        </p:txBody>
      </p:sp>
    </p:spTree>
    <p:extLst>
      <p:ext uri="{BB962C8B-B14F-4D97-AF65-F5344CB8AC3E}">
        <p14:creationId xmlns:p14="http://schemas.microsoft.com/office/powerpoint/2010/main" val="33563902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2840</TotalTime>
  <Words>260</Words>
  <Application>Microsoft Office PowerPoint</Application>
  <PresentationFormat>Widescreen</PresentationFormat>
  <Paragraphs>42</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Chat Healthy </vt:lpstr>
      <vt:lpstr>Overview</vt:lpstr>
      <vt:lpstr>Core model for interrogation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skip snow</dc:creator>
  <cp:lastModifiedBy>skip snow</cp:lastModifiedBy>
  <cp:revision>3</cp:revision>
  <dcterms:created xsi:type="dcterms:W3CDTF">2026-01-17T19:25:09Z</dcterms:created>
  <dcterms:modified xsi:type="dcterms:W3CDTF">2026-01-22T00:20:25Z</dcterms:modified>
</cp:coreProperties>
</file>